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220">
                <a:solidFill>
                  <a:srgbClr val="0070C0"/>
                </a:solidFill>
                <a:latin typeface="Arial"/>
              </a:rPr>
              <a:t>CAPGEMINI ENGINEERING  ·  SYSTEMS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424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5200" b="0" i="0">
                <a:solidFill>
                  <a:srgbClr val="FFFFFF"/>
                </a:solidFill>
                <a:latin typeface="Georgia"/>
              </a:rPr>
              <a:t>AI Implementation Strategy</a:t>
            </a:r>
          </a:p>
          <a:p>
            <a:pPr>
              <a:lnSpc>
                <a:spcPct val="104000"/>
              </a:lnSpc>
            </a:pPr>
            <a:r>
              <a:rPr sz="5200" b="0" i="0">
                <a:solidFill>
                  <a:srgbClr val="FFFFFF"/>
                </a:solidFill>
                <a:latin typeface="Georgia"/>
              </a:rPr>
              <a:t>for </a:t>
            </a:r>
            <a:r>
              <a:rPr sz="5200" b="0" i="1">
                <a:solidFill>
                  <a:srgbClr val="0070C0"/>
                </a:solidFill>
                <a:latin typeface="Georgia"/>
              </a:rPr>
              <a:t>Systems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343400"/>
            <a:ext cx="2926080" cy="15240"/>
          </a:xfrm>
          <a:prstGeom prst="rect">
            <a:avLst/>
          </a:prstGeom>
          <a:solidFill>
            <a:srgbClr val="2A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EEF2FA"/>
                </a:solidFill>
                <a:latin typeface="Arial"/>
              </a:rPr>
              <a:t>Alberto Donoso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8A93A8"/>
                </a:solidFill>
                <a:latin typeface="Arial"/>
              </a:rPr>
              <a:t>Findings, perspectives, and experience as a user and builder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 spc="150">
                <a:solidFill>
                  <a:srgbClr val="4A5270"/>
                </a:solidFill>
                <a:latin typeface="Arial"/>
              </a:rPr>
              <a:t>WORKSHOP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220">
                <a:solidFill>
                  <a:srgbClr val="0070C0"/>
                </a:solidFill>
                <a:latin typeface="Arial"/>
              </a:rPr>
              <a:t>FINDINGS  ·  BOTTOM LINE UP FRONT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300" b="0" i="0">
                <a:solidFill>
                  <a:srgbClr val="1A1C22"/>
                </a:solidFill>
                <a:latin typeface="Georgia"/>
              </a:rPr>
              <a:t>What I </a:t>
            </a:r>
            <a:r>
              <a:rPr sz="3300" b="0" i="0">
                <a:solidFill>
                  <a:srgbClr val="0070C0"/>
                </a:solidFill>
                <a:latin typeface="Georgia"/>
              </a:rPr>
              <a:t>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572768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52586A"/>
                </a:solidFill>
                <a:latin typeface="Arial"/>
              </a:rPr>
              <a:t>The conclusions first — the rest of this deck is the argument and the evidence behind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E0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 spc="80">
                <a:solidFill>
                  <a:srgbClr val="8A93A8"/>
                </a:solidFill>
                <a:latin typeface="Arial"/>
              </a:rPr>
              <a:t>AI Implementation Strategy  ·  Systems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80">
                <a:solidFill>
                  <a:srgbClr val="8A93A8"/>
                </a:solidFill>
                <a:latin typeface="Arial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40280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40280"/>
            <a:ext cx="64008" cy="65836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240280"/>
            <a:ext cx="10698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 i="0">
                <a:solidFill>
                  <a:srgbClr val="1A1C22"/>
                </a:solidFill>
                <a:latin typeface="Arial"/>
              </a:rPr>
              <a:t>Claude is a platform, not an app</a:t>
            </a:r>
            <a:r>
              <a:rPr sz="1250" b="1" i="0">
                <a:solidFill>
                  <a:srgbClr val="0070C0"/>
                </a:solidFill>
                <a:latin typeface="Arial"/>
              </a:rPr>
              <a:t>  —  </a:t>
            </a:r>
            <a:r>
              <a:rPr sz="1200" b="0" i="0">
                <a:solidFill>
                  <a:srgbClr val="52586A"/>
                </a:solidFill>
                <a:latin typeface="Arial"/>
              </a:rPr>
              <a:t>It is an environment for building AI products — and those products may or may not contain AI themselves. Using chat is just the start.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99232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999232"/>
            <a:ext cx="64008" cy="65836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999232"/>
            <a:ext cx="10698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 i="0">
                <a:solidFill>
                  <a:srgbClr val="1A1C22"/>
                </a:solidFill>
                <a:latin typeface="Arial"/>
              </a:rPr>
              <a:t>Know the AI value chain</a:t>
            </a:r>
            <a:r>
              <a:rPr sz="1250" b="1" i="0">
                <a:solidFill>
                  <a:srgbClr val="0070C0"/>
                </a:solidFill>
                <a:latin typeface="Arial"/>
              </a:rPr>
              <a:t>  —  </a:t>
            </a:r>
            <a:r>
              <a:rPr sz="1200" b="0" i="0">
                <a:solidFill>
                  <a:srgbClr val="52586A"/>
                </a:solidFill>
                <a:latin typeface="Arial"/>
              </a:rPr>
              <a:t>From applications down to the LMMs and the underlying infrastructure. Where you sit determines where value is captured.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58184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58184"/>
            <a:ext cx="64008" cy="65836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758184"/>
            <a:ext cx="10698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 i="0">
                <a:solidFill>
                  <a:srgbClr val="1A1C22"/>
                </a:solidFill>
                <a:latin typeface="Arial"/>
              </a:rPr>
              <a:t>This transformation is different</a:t>
            </a:r>
            <a:r>
              <a:rPr sz="1250" b="1" i="0">
                <a:solidFill>
                  <a:srgbClr val="0070C0"/>
                </a:solidFill>
                <a:latin typeface="Arial"/>
              </a:rPr>
              <a:t>  —  </a:t>
            </a:r>
            <a:r>
              <a:rPr sz="1200" b="0" i="0">
                <a:solidFill>
                  <a:srgbClr val="52586A"/>
                </a:solidFill>
                <a:latin typeface="Arial"/>
              </a:rPr>
              <a:t>The cost and feasibility of building and operating has collapsed, and knowledge is being democratized. That is what sets it apart from previous digital shifts.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517136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517136"/>
            <a:ext cx="64008" cy="65836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4517136"/>
            <a:ext cx="10698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 i="0">
                <a:solidFill>
                  <a:srgbClr val="1A1C22"/>
                </a:solidFill>
                <a:latin typeface="Arial"/>
              </a:rPr>
              <a:t>SaaS is changing, not disappearing</a:t>
            </a:r>
            <a:r>
              <a:rPr sz="1250" b="1" i="0">
                <a:solidFill>
                  <a:srgbClr val="0070C0"/>
                </a:solidFill>
                <a:latin typeface="Arial"/>
              </a:rPr>
              <a:t>  —  </a:t>
            </a:r>
            <a:r>
              <a:rPr sz="1200" b="0" i="0">
                <a:solidFill>
                  <a:srgbClr val="52586A"/>
                </a:solidFill>
                <a:latin typeface="Arial"/>
              </a:rPr>
              <a:t>AI economics are reshaping the model — not erasing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276088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276088"/>
            <a:ext cx="64008" cy="65836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5276088"/>
            <a:ext cx="10698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 i="0">
                <a:solidFill>
                  <a:srgbClr val="1A1C22"/>
                </a:solidFill>
                <a:latin typeface="Arial"/>
              </a:rPr>
              <a:t>Value is in new capability, not just efficiency</a:t>
            </a:r>
            <a:r>
              <a:rPr sz="1250" b="1" i="0">
                <a:solidFill>
                  <a:srgbClr val="0070C0"/>
                </a:solidFill>
                <a:latin typeface="Arial"/>
              </a:rPr>
              <a:t>  —  </a:t>
            </a:r>
            <a:r>
              <a:rPr sz="1200" b="0" i="0">
                <a:solidFill>
                  <a:srgbClr val="52586A"/>
                </a:solidFill>
                <a:latin typeface="Arial"/>
              </a:rPr>
              <a:t>Efficiency is one gain. The larger prize is the new products, solutions and capabilities that did not exist before.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31720"/>
            <a:ext cx="457200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74519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220">
                <a:solidFill>
                  <a:srgbClr val="0070C0"/>
                </a:solidFill>
                <a:latin typeface="Arial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600" b="0" i="0">
                <a:solidFill>
                  <a:srgbClr val="FFFFFF"/>
                </a:solidFill>
                <a:latin typeface="Georgia"/>
              </a:rPr>
              <a:t>Strategic </a:t>
            </a:r>
            <a:r>
              <a:rPr sz="4600" b="0" i="0">
                <a:solidFill>
                  <a:srgbClr val="0070C0"/>
                </a:solidFill>
                <a:latin typeface="Georgia"/>
              </a:rPr>
              <a:t>Imperative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3977639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8A93A8"/>
                </a:solidFill>
                <a:latin typeface="Arial"/>
              </a:rPr>
              <a:t>Why invest in AI fluency now?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80">
                <a:solidFill>
                  <a:srgbClr val="4A5270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220">
                <a:solidFill>
                  <a:srgbClr val="0070C0"/>
                </a:solidFill>
                <a:latin typeface="Arial"/>
              </a:rPr>
              <a:t>STRATEGIC IMPERATIVE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300" b="0" i="0">
                <a:solidFill>
                  <a:srgbClr val="1A1C22"/>
                </a:solidFill>
                <a:latin typeface="Georgia"/>
              </a:rPr>
              <a:t>AI in Systems Engineering </a:t>
            </a:r>
            <a:r>
              <a:rPr sz="3300" b="0" i="0">
                <a:solidFill>
                  <a:srgbClr val="0070C0"/>
                </a:solidFill>
                <a:latin typeface="Georgia"/>
              </a:rPr>
              <a:t>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E0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 spc="80">
                <a:solidFill>
                  <a:srgbClr val="8A93A8"/>
                </a:solidFill>
                <a:latin typeface="Arial"/>
              </a:rPr>
              <a:t>AI Implementation Strategy  ·  Systems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80">
                <a:solidFill>
                  <a:srgbClr val="8A93A8"/>
                </a:solidFill>
                <a:latin typeface="Arial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11155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011680"/>
            <a:ext cx="64008" cy="8412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011680"/>
            <a:ext cx="10698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 i="0">
                <a:solidFill>
                  <a:srgbClr val="1A1C22"/>
                </a:solidFill>
                <a:latin typeface="Arial"/>
              </a:rPr>
              <a:t>A more competitive landscape</a:t>
            </a:r>
            <a:r>
              <a:rPr sz="1250" b="1" i="0">
                <a:solidFill>
                  <a:srgbClr val="0070C0"/>
                </a:solidFill>
                <a:latin typeface="Arial"/>
              </a:rPr>
              <a:t>  —  </a:t>
            </a:r>
            <a:r>
              <a:rPr sz="1200" b="0" i="0">
                <a:solidFill>
                  <a:srgbClr val="52586A"/>
                </a:solidFill>
                <a:latin typeface="Arial"/>
              </a:rPr>
              <a:t>Knowledge access, speed, data-sovereignty concerns and new entrants are all compressing the market for engineering services.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99232"/>
            <a:ext cx="11155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999232"/>
            <a:ext cx="64008" cy="8412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999232"/>
            <a:ext cx="10698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 i="0">
                <a:solidFill>
                  <a:srgbClr val="1A1C22"/>
                </a:solidFill>
                <a:latin typeface="Arial"/>
              </a:rPr>
              <a:t>Clients are refocusing investment</a:t>
            </a:r>
            <a:r>
              <a:rPr sz="1250" b="1" i="0">
                <a:solidFill>
                  <a:srgbClr val="0070C0"/>
                </a:solidFill>
                <a:latin typeface="Arial"/>
              </a:rPr>
              <a:t>  —  </a:t>
            </a:r>
            <a:r>
              <a:rPr sz="1200" b="0" i="0">
                <a:solidFill>
                  <a:srgbClr val="52586A"/>
                </a:solidFill>
                <a:latin typeface="Arial"/>
              </a:rPr>
              <a:t>Into infrastructure and AI roll-ups, and into long-term capabilities they will not outsource.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86784"/>
            <a:ext cx="11155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986784"/>
            <a:ext cx="64008" cy="8412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986784"/>
            <a:ext cx="10698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 i="0">
                <a:solidFill>
                  <a:srgbClr val="1A1C22"/>
                </a:solidFill>
                <a:latin typeface="Arial"/>
              </a:rPr>
              <a:t>New products demand new fluency</a:t>
            </a:r>
            <a:r>
              <a:rPr sz="1250" b="1" i="0">
                <a:solidFill>
                  <a:srgbClr val="0070C0"/>
                </a:solidFill>
                <a:latin typeface="Arial"/>
              </a:rPr>
              <a:t>  —  </a:t>
            </a:r>
            <a:r>
              <a:rPr sz="1200" b="0" i="0">
                <a:solidFill>
                  <a:srgbClr val="52586A"/>
                </a:solidFill>
                <a:latin typeface="Arial"/>
              </a:rPr>
              <a:t>Building modern products requires AI fluency plus a real understanding of workflows and customer needs.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974336"/>
            <a:ext cx="11155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974336"/>
            <a:ext cx="64008" cy="8412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4974336"/>
            <a:ext cx="10698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 i="0">
                <a:solidFill>
                  <a:srgbClr val="1A1C22"/>
                </a:solidFill>
                <a:latin typeface="Arial"/>
              </a:rPr>
              <a:t>Experience is more relevant, not less</a:t>
            </a:r>
            <a:r>
              <a:rPr sz="1250" b="1" i="0">
                <a:solidFill>
                  <a:srgbClr val="0070C0"/>
                </a:solidFill>
                <a:latin typeface="Arial"/>
              </a:rPr>
              <a:t>  —  </a:t>
            </a:r>
            <a:r>
              <a:rPr sz="1200" b="0" i="0">
                <a:solidFill>
                  <a:srgbClr val="52586A"/>
                </a:solidFill>
                <a:latin typeface="Arial"/>
              </a:rPr>
              <a:t>It is precisely domain experience that is required to build solutions with real impact.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220">
                <a:solidFill>
                  <a:srgbClr val="0070C0"/>
                </a:solidFill>
                <a:latin typeface="Arial"/>
              </a:rPr>
              <a:t>STRATEGIC IMPERATIVE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300" b="0" i="0">
                <a:solidFill>
                  <a:srgbClr val="1A1C22"/>
                </a:solidFill>
                <a:latin typeface="Georgia"/>
              </a:rPr>
              <a:t>AI product </a:t>
            </a:r>
            <a:r>
              <a:rPr sz="3300" b="0" i="0">
                <a:solidFill>
                  <a:srgbClr val="0070C0"/>
                </a:solidFill>
                <a:latin typeface="Georgia"/>
              </a:rPr>
              <a:t>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E0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 spc="80">
                <a:solidFill>
                  <a:srgbClr val="8A93A8"/>
                </a:solidFill>
                <a:latin typeface="Arial"/>
              </a:rPr>
              <a:t>AI Implementation Strategy  ·  Systems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80">
                <a:solidFill>
                  <a:srgbClr val="8A93A8"/>
                </a:solidFill>
                <a:latin typeface="Arial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011680"/>
            <a:ext cx="64008" cy="9601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011680"/>
            <a:ext cx="106984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 i="0">
                <a:solidFill>
                  <a:srgbClr val="1A1C22"/>
                </a:solidFill>
                <a:latin typeface="Arial"/>
              </a:rPr>
              <a:t>An emerging field, many names</a:t>
            </a:r>
            <a:r>
              <a:rPr sz="1250" b="1" i="0">
                <a:solidFill>
                  <a:srgbClr val="0070C0"/>
                </a:solidFill>
                <a:latin typeface="Arial"/>
              </a:rPr>
              <a:t>  —  </a:t>
            </a:r>
            <a:r>
              <a:rPr sz="1200" b="0" i="0">
                <a:solidFill>
                  <a:srgbClr val="52586A"/>
                </a:solidFill>
                <a:latin typeface="Arial"/>
              </a:rPr>
              <a:t>AI systems engineering, product development, Gen AI engineering — I use them interchangeably, but “product development” is the industry's term.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36392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36392"/>
            <a:ext cx="64008" cy="9601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136392"/>
            <a:ext cx="106984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 i="0">
                <a:solidFill>
                  <a:srgbClr val="1A1C22"/>
                </a:solidFill>
                <a:latin typeface="Arial"/>
              </a:rPr>
              <a:t>The builder has changed</a:t>
            </a:r>
            <a:r>
              <a:rPr sz="1250" b="1" i="0">
                <a:solidFill>
                  <a:srgbClr val="0070C0"/>
                </a:solidFill>
                <a:latin typeface="Arial"/>
              </a:rPr>
              <a:t>  —  </a:t>
            </a:r>
            <a:r>
              <a:rPr sz="1200" b="0" i="0">
                <a:solidFill>
                  <a:srgbClr val="52586A"/>
                </a:solidFill>
                <a:latin typeface="Arial"/>
              </a:rPr>
              <a:t>Product managers can now build solutions. Going to market, managing stakeholder needs and building business models around customer success now differentiate more than the technically sounder solution.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261104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261104"/>
            <a:ext cx="64008" cy="9601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4261104"/>
            <a:ext cx="106984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 i="0">
                <a:solidFill>
                  <a:srgbClr val="1A1C22"/>
                </a:solidFill>
                <a:latin typeface="Arial"/>
              </a:rPr>
              <a:t>Cycles are obsolete; fundamentals are not</a:t>
            </a:r>
            <a:r>
              <a:rPr sz="1250" b="1" i="0">
                <a:solidFill>
                  <a:srgbClr val="0070C0"/>
                </a:solidFill>
                <a:latin typeface="Arial"/>
              </a:rPr>
              <a:t>  —  </a:t>
            </a:r>
            <a:r>
              <a:rPr sz="1200" b="0" i="0">
                <a:solidFill>
                  <a:srgbClr val="52586A"/>
                </a:solidFill>
                <a:latin typeface="Arial"/>
              </a:rPr>
              <a:t>Tools, speed, information volume and the methods to assess success have all changed. The underlying engineering fundamentals still hold their value.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220">
                <a:solidFill>
                  <a:srgbClr val="0070C0"/>
                </a:solidFill>
                <a:latin typeface="Arial"/>
              </a:rPr>
              <a:t>STRATEGIC IMPERATIVE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300" b="0" i="0">
                <a:solidFill>
                  <a:srgbClr val="1A1C22"/>
                </a:solidFill>
                <a:latin typeface="Georgia"/>
              </a:rPr>
              <a:t>The AI </a:t>
            </a:r>
            <a:r>
              <a:rPr sz="3300" b="0" i="0">
                <a:solidFill>
                  <a:srgbClr val="0070C0"/>
                </a:solidFill>
                <a:latin typeface="Georgia"/>
              </a:rPr>
              <a:t>value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572768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52586A"/>
                </a:solidFill>
                <a:latin typeface="Arial"/>
              </a:rPr>
              <a:t>We are implementation and solution providers — not a bad position. Many start-ups and great firms win with that playbook.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E0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 spc="80">
                <a:solidFill>
                  <a:srgbClr val="8A93A8"/>
                </a:solidFill>
                <a:latin typeface="Arial"/>
              </a:rPr>
              <a:t>AI Implementation Strategy  ·  Systems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80">
                <a:solidFill>
                  <a:srgbClr val="8A93A8"/>
                </a:solidFill>
                <a:latin typeface="Arial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7772400" cy="603504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286000"/>
            <a:ext cx="74066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1" i="0">
                <a:solidFill>
                  <a:srgbClr val="FFFFFF"/>
                </a:solidFill>
                <a:latin typeface="Arial"/>
              </a:rPr>
              <a:t>Applications &amp; Solutions</a:t>
            </a:r>
            <a:r>
              <a:rPr sz="950" b="0" i="0">
                <a:solidFill>
                  <a:srgbClr val="DDE6F2"/>
                </a:solidFill>
                <a:latin typeface="Arial"/>
              </a:rPr>
              <a:t>    Where we play  ·  implementation &amp; solution providers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80944"/>
            <a:ext cx="7772400" cy="603504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980944"/>
            <a:ext cx="74066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1" i="0">
                <a:solidFill>
                  <a:srgbClr val="FFFFFF"/>
                </a:solidFill>
                <a:latin typeface="Arial"/>
              </a:rPr>
              <a:t>Models  ·  LMMs</a:t>
            </a:r>
            <a:r>
              <a:rPr sz="950" b="0" i="0">
                <a:solidFill>
                  <a:srgbClr val="DDE6F2"/>
                </a:solidFill>
                <a:latin typeface="Arial"/>
              </a:rPr>
              <a:t>    Multimodal LMMs (Gemini, Anthropic) overtook text-only LLMs; dedicated models still valuable when architecting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75887"/>
            <a:ext cx="7772400" cy="603504"/>
          </a:xfrm>
          <a:prstGeom prst="roundRect">
            <a:avLst>
              <a:gd name="adj" fmla="val 8000"/>
            </a:avLst>
          </a:prstGeom>
          <a:solidFill>
            <a:srgbClr val="00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675887"/>
            <a:ext cx="74066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1" i="0">
                <a:solidFill>
                  <a:srgbClr val="FFFFFF"/>
                </a:solidFill>
                <a:latin typeface="Arial"/>
              </a:rPr>
              <a:t>Compute</a:t>
            </a:r>
            <a:r>
              <a:rPr sz="950" b="0" i="0">
                <a:solidFill>
                  <a:srgbClr val="DDE6F2"/>
                </a:solidFill>
                <a:latin typeface="Arial"/>
              </a:rPr>
              <a:t>    Hyperscalers own and contract  ·  xAI, sovereign compute, demand guarantees, unlikely players (VW)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370831"/>
            <a:ext cx="7772400" cy="603504"/>
          </a:xfrm>
          <a:prstGeom prst="roundRect">
            <a:avLst>
              <a:gd name="adj" fmla="val 8000"/>
            </a:avLst>
          </a:prstGeom>
          <a:solidFill>
            <a:srgbClr val="7B4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4370831"/>
            <a:ext cx="74066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1" i="0">
                <a:solidFill>
                  <a:srgbClr val="FFFFFF"/>
                </a:solidFill>
                <a:latin typeface="Arial"/>
              </a:rPr>
              <a:t>Energy &amp; Grid</a:t>
            </a:r>
            <a:r>
              <a:rPr sz="950" b="0" i="0">
                <a:solidFill>
                  <a:srgbClr val="DDE6F2"/>
                </a:solidFill>
                <a:latin typeface="Arial"/>
              </a:rPr>
              <a:t>    The binding physical constraint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065775"/>
            <a:ext cx="7772400" cy="603504"/>
          </a:xfrm>
          <a:prstGeom prst="roundRect">
            <a:avLst>
              <a:gd name="adj" fmla="val 8000"/>
            </a:avLst>
          </a:prstGeom>
          <a:solidFill>
            <a:srgbClr val="1A5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5065775"/>
            <a:ext cx="74066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1" i="0">
                <a:solidFill>
                  <a:srgbClr val="FFFFFF"/>
                </a:solidFill>
                <a:latin typeface="Arial"/>
              </a:rPr>
              <a:t>Silicon</a:t>
            </a:r>
            <a:r>
              <a:rPr sz="950" b="0" i="0">
                <a:solidFill>
                  <a:srgbClr val="DDE6F2"/>
                </a:solidFill>
                <a:latin typeface="Arial"/>
              </a:rPr>
              <a:t>    Designers (NVIDIA)  ·  manufacturers (TSMC)  ·  machine makers (ASML)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2286000"/>
            <a:ext cx="3154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49640" y="2286000"/>
            <a:ext cx="3154680" cy="548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468880"/>
            <a:ext cx="2843784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spc="140">
                <a:solidFill>
                  <a:srgbClr val="8B1A1A"/>
                </a:solidFill>
                <a:latin typeface="Arial"/>
              </a:rPr>
              <a:t>CROSS-CUTTING</a:t>
            </a:r>
          </a:p>
          <a:p>
            <a:pPr>
              <a:spcBef>
                <a:spcPts val="300"/>
              </a:spcBef>
            </a:pPr>
            <a:r>
              <a:rPr sz="1300" b="1" i="0">
                <a:solidFill>
                  <a:srgbClr val="1A1C22"/>
                </a:solidFill>
                <a:latin typeface="Arial"/>
              </a:rPr>
              <a:t>One player, whole chain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 i="0">
                <a:solidFill>
                  <a:srgbClr val="52586A"/>
                </a:solidFill>
                <a:latin typeface="Arial"/>
              </a:rPr>
              <a:t>Companies like Samsung cut across the entire value chain — design, manufacturing and devices.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49640" y="3840480"/>
            <a:ext cx="315468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49640" y="3840480"/>
            <a:ext cx="3154680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14232" y="4023360"/>
            <a:ext cx="2843784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spc="140">
                <a:solidFill>
                  <a:srgbClr val="0070C0"/>
                </a:solidFill>
                <a:latin typeface="Arial"/>
              </a:rPr>
              <a:t>OUR LAYER</a:t>
            </a:r>
          </a:p>
          <a:p>
            <a:pPr>
              <a:spcBef>
                <a:spcPts val="300"/>
              </a:spcBef>
            </a:pPr>
            <a:r>
              <a:rPr sz="1300" b="1" i="0">
                <a:solidFill>
                  <a:srgbClr val="1A1C22"/>
                </a:solidFill>
                <a:latin typeface="Arial"/>
              </a:rPr>
              <a:t>Closest to the customer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 i="0">
                <a:solidFill>
                  <a:srgbClr val="52586A"/>
                </a:solidFill>
                <a:latin typeface="Arial"/>
              </a:rPr>
              <a:t>Implementation and solution providers capture AI's near-zero build cost and hyper-customization — and own the customer relationship.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220">
                <a:solidFill>
                  <a:srgbClr val="0070C0"/>
                </a:solidFill>
                <a:latin typeface="Arial"/>
              </a:rPr>
              <a:t>STRATEGIC IMPERATIVE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300" b="0" i="0">
                <a:solidFill>
                  <a:srgbClr val="1A1C22"/>
                </a:solidFill>
                <a:latin typeface="Georgia"/>
              </a:rPr>
              <a:t>The value-capture </a:t>
            </a:r>
            <a:r>
              <a:rPr sz="3300" b="0" i="0">
                <a:solidFill>
                  <a:srgbClr val="0070C0"/>
                </a:solidFill>
                <a:latin typeface="Georgia"/>
              </a:rPr>
              <a:t>dilemma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572768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52586A"/>
                </a:solidFill>
                <a:latin typeface="Arial"/>
              </a:rPr>
              <a:t>There are many winners. The question is where a services firm should play.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E0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 spc="80">
                <a:solidFill>
                  <a:srgbClr val="8A93A8"/>
                </a:solidFill>
                <a:latin typeface="Arial"/>
              </a:rPr>
              <a:t>AI Implementation Strategy  ·  Systems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80">
                <a:solidFill>
                  <a:srgbClr val="8A93A8"/>
                </a:solidFill>
                <a:latin typeface="Arial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40280"/>
            <a:ext cx="544068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40280"/>
            <a:ext cx="5440680" cy="5486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41448"/>
            <a:ext cx="498348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20">
                <a:solidFill>
                  <a:srgbClr val="002060"/>
                </a:solidFill>
                <a:latin typeface="Arial"/>
              </a:rPr>
              <a:t>TOP-DOWN TRANSFORMATION</a:t>
            </a:r>
          </a:p>
          <a:p>
            <a:pPr>
              <a:spcBef>
                <a:spcPts val="400"/>
              </a:spcBef>
            </a:pPr>
            <a:r>
              <a:rPr sz="1450" b="1" i="0">
                <a:solidFill>
                  <a:srgbClr val="1A1C22"/>
                </a:solidFill>
                <a:latin typeface="Georgia"/>
              </a:rPr>
              <a:t>The big-bang play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100" b="1" i="0">
                <a:solidFill>
                  <a:srgbClr val="002060"/>
                </a:solidFill>
                <a:latin typeface="Arial"/>
              </a:rPr>
              <a:t>•  </a:t>
            </a:r>
            <a:r>
              <a:rPr sz="1150" b="0" i="0">
                <a:solidFill>
                  <a:srgbClr val="52586A"/>
                </a:solidFill>
                <a:latin typeface="Arial"/>
              </a:rPr>
              <a:t>CEO-directed, large-scale AI transformation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100" b="1" i="0">
                <a:solidFill>
                  <a:srgbClr val="002060"/>
                </a:solidFill>
                <a:latin typeface="Arial"/>
              </a:rPr>
              <a:t>•  </a:t>
            </a:r>
            <a:r>
              <a:rPr sz="1150" b="0" i="0">
                <a:solidFill>
                  <a:srgbClr val="52586A"/>
                </a:solidFill>
                <a:latin typeface="Arial"/>
              </a:rPr>
              <a:t>The largest single value driver — a bigger pie, so large vendors push for it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100" b="1" i="0">
                <a:solidFill>
                  <a:srgbClr val="002060"/>
                </a:solidFill>
                <a:latin typeface="Arial"/>
              </a:rPr>
              <a:t>•  </a:t>
            </a:r>
            <a:r>
              <a:rPr sz="1150" b="0" i="0">
                <a:solidFill>
                  <a:srgbClr val="52586A"/>
                </a:solidFill>
                <a:latin typeface="Arial"/>
              </a:rPr>
              <a:t>Capex- and time-intensive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100" b="1" i="0">
                <a:solidFill>
                  <a:srgbClr val="002060"/>
                </a:solidFill>
                <a:latin typeface="Arial"/>
              </a:rPr>
              <a:t>•  </a:t>
            </a:r>
            <a:r>
              <a:rPr sz="1150" b="0" i="0">
                <a:solidFill>
                  <a:srgbClr val="52586A"/>
                </a:solidFill>
                <a:latin typeface="Arial"/>
              </a:rPr>
              <a:t>High risk of failure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2240280"/>
            <a:ext cx="5440680" cy="3200400"/>
          </a:xfrm>
          <a:prstGeom prst="roundRect">
            <a:avLst>
              <a:gd name="adj" fmla="val 4000"/>
            </a:avLst>
          </a:prstGeom>
          <a:solidFill>
            <a:srgbClr val="E6EEF7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2240280"/>
            <a:ext cx="5440680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441448"/>
            <a:ext cx="498348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20">
                <a:solidFill>
                  <a:srgbClr val="0070C0"/>
                </a:solidFill>
                <a:latin typeface="Arial"/>
              </a:rPr>
              <a:t>BOTTOM-UP BUILDING  ·  I ARGUE</a:t>
            </a:r>
          </a:p>
          <a:p>
            <a:pPr>
              <a:spcBef>
                <a:spcPts val="400"/>
              </a:spcBef>
            </a:pPr>
            <a:r>
              <a:rPr sz="1450" b="1" i="0">
                <a:solidFill>
                  <a:srgbClr val="002060"/>
                </a:solidFill>
                <a:latin typeface="Georgia"/>
              </a:rPr>
              <a:t>Close to the ground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100" b="1" i="0">
                <a:solidFill>
                  <a:srgbClr val="0070C0"/>
                </a:solidFill>
                <a:latin typeface="Arial"/>
              </a:rPr>
              <a:t>•  </a:t>
            </a:r>
            <a:r>
              <a:rPr sz="1150" b="0" i="0">
                <a:solidFill>
                  <a:srgbClr val="0D3060"/>
                </a:solidFill>
                <a:latin typeface="Arial"/>
              </a:rPr>
              <a:t>Captures AI's negligible development cost and hyper-customization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100" b="1" i="0">
                <a:solidFill>
                  <a:srgbClr val="0070C0"/>
                </a:solidFill>
                <a:latin typeface="Arial"/>
              </a:rPr>
              <a:t>•  </a:t>
            </a:r>
            <a:r>
              <a:rPr sz="1150" b="0" i="0">
                <a:solidFill>
                  <a:srgbClr val="0D3060"/>
                </a:solidFill>
                <a:latin typeface="Arial"/>
              </a:rPr>
              <a:t>May or may not scale — but it will delight its users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100" b="1" i="0">
                <a:solidFill>
                  <a:srgbClr val="0070C0"/>
                </a:solidFill>
                <a:latin typeface="Arial"/>
              </a:rPr>
              <a:t>•  </a:t>
            </a:r>
            <a:r>
              <a:rPr sz="1150" b="0" i="0">
                <a:solidFill>
                  <a:srgbClr val="0D3060"/>
                </a:solidFill>
                <a:latin typeface="Arial"/>
              </a:rPr>
              <a:t>Highly attractive territory for would-be start-ups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100" b="1" i="0">
                <a:solidFill>
                  <a:srgbClr val="0070C0"/>
                </a:solidFill>
                <a:latin typeface="Arial"/>
              </a:rPr>
              <a:t>•  </a:t>
            </a:r>
            <a:r>
              <a:rPr sz="1150" b="0" i="0">
                <a:solidFill>
                  <a:srgbClr val="0D3060"/>
                </a:solidFill>
                <a:latin typeface="Arial"/>
              </a:rPr>
              <a:t>Needs AI expertise + domain expertise + people who build and translate for those who can't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220">
                <a:solidFill>
                  <a:srgbClr val="0070C0"/>
                </a:solidFill>
                <a:latin typeface="Arial"/>
              </a:rPr>
              <a:t>STRATEGIC IMPERATIVE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300" b="0" i="0">
                <a:solidFill>
                  <a:srgbClr val="1A1C22"/>
                </a:solidFill>
                <a:latin typeface="Georgia"/>
              </a:rPr>
              <a:t>SaaS &amp; </a:t>
            </a:r>
            <a:r>
              <a:rPr sz="3300" b="0" i="0">
                <a:solidFill>
                  <a:srgbClr val="0070C0"/>
                </a:solidFill>
                <a:latin typeface="Georgia"/>
              </a:rPr>
              <a:t>MBSE tool vendors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E0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 spc="80">
                <a:solidFill>
                  <a:srgbClr val="8A93A8"/>
                </a:solidFill>
                <a:latin typeface="Arial"/>
              </a:rPr>
              <a:t>AI Implementation Strategy  ·  Systems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80">
                <a:solidFill>
                  <a:srgbClr val="8A93A8"/>
                </a:solidFill>
                <a:latin typeface="Arial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111556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64008" cy="64008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874519"/>
            <a:ext cx="10698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 i="0">
                <a:solidFill>
                  <a:srgbClr val="1A1C22"/>
                </a:solidFill>
                <a:latin typeface="Arial"/>
              </a:rPr>
              <a:t>Defensibility is more than features</a:t>
            </a:r>
            <a:r>
              <a:rPr sz="1150" b="1" i="0">
                <a:solidFill>
                  <a:srgbClr val="002060"/>
                </a:solidFill>
                <a:latin typeface="Arial"/>
              </a:rPr>
              <a:t>  —  </a:t>
            </a:r>
            <a:r>
              <a:rPr sz="1100" b="0" i="0">
                <a:solidFill>
                  <a:srgbClr val="52586A"/>
                </a:solidFill>
                <a:latin typeface="Arial"/>
              </a:rPr>
              <a:t>System-of-record dynamics, switching costs and who owns the interfaces matter more than tool functionality.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39"/>
            <a:ext cx="111556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606039"/>
            <a:ext cx="64008" cy="64008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606039"/>
            <a:ext cx="10698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 i="0">
                <a:solidFill>
                  <a:srgbClr val="1A1C22"/>
                </a:solidFill>
                <a:latin typeface="Arial"/>
              </a:rPr>
              <a:t>A comfortable position</a:t>
            </a:r>
            <a:r>
              <a:rPr sz="1150" b="1" i="0">
                <a:solidFill>
                  <a:srgbClr val="002060"/>
                </a:solidFill>
                <a:latin typeface="Arial"/>
              </a:rPr>
              <a:t>  —  </a:t>
            </a:r>
            <a:r>
              <a:rPr sz="1100" b="0" i="0">
                <a:solidFill>
                  <a:srgbClr val="52586A"/>
                </a:solidFill>
                <a:latin typeface="Arial"/>
              </a:rPr>
              <a:t>They hold the market and legacy switching costs. They can sit on it, or ship AI that improves the core — they will not disrupt themselves.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37559"/>
            <a:ext cx="111556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337559"/>
            <a:ext cx="64008" cy="64008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337559"/>
            <a:ext cx="10698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 i="0">
                <a:solidFill>
                  <a:srgbClr val="1A1C22"/>
                </a:solidFill>
                <a:latin typeface="Arial"/>
              </a:rPr>
              <a:t>They die only when something is remarkably better or cheaper</a:t>
            </a:r>
            <a:r>
              <a:rPr sz="1150" b="1" i="0">
                <a:solidFill>
                  <a:srgbClr val="002060"/>
                </a:solidFill>
                <a:latin typeface="Arial"/>
              </a:rPr>
              <a:t>  —  </a:t>
            </a:r>
            <a:r>
              <a:rPr sz="1100" b="0" i="0">
                <a:solidFill>
                  <a:srgbClr val="52586A"/>
                </a:solidFill>
                <a:latin typeface="Arial"/>
              </a:rPr>
              <a:t>Not before.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69079"/>
            <a:ext cx="111556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069079"/>
            <a:ext cx="64008" cy="64008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4069079"/>
            <a:ext cx="10698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 i="0">
                <a:solidFill>
                  <a:srgbClr val="1A1C22"/>
                </a:solidFill>
                <a:latin typeface="Arial"/>
              </a:rPr>
              <a:t>Pricing is shifting</a:t>
            </a:r>
            <a:r>
              <a:rPr sz="1150" b="1" i="0">
                <a:solidFill>
                  <a:srgbClr val="002060"/>
                </a:solidFill>
                <a:latin typeface="Arial"/>
              </a:rPr>
              <a:t>  —  </a:t>
            </a:r>
            <a:r>
              <a:rPr sz="1100" b="0" i="0">
                <a:solidFill>
                  <a:srgbClr val="52586A"/>
                </a:solidFill>
                <a:latin typeface="Arial"/>
              </a:rPr>
              <a:t>Seat-based pricing breaks down under token variable costs and more efficient customer usage.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800599"/>
            <a:ext cx="111556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800599"/>
            <a:ext cx="64008" cy="64008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4800599"/>
            <a:ext cx="10698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 i="0">
                <a:solidFill>
                  <a:srgbClr val="1A1C22"/>
                </a:solidFill>
                <a:latin typeface="Arial"/>
              </a:rPr>
              <a:t>Expect a slow death for current MBSE software</a:t>
            </a:r>
            <a:r>
              <a:rPr sz="1150" b="1" i="0">
                <a:solidFill>
                  <a:srgbClr val="002060"/>
                </a:solidFill>
                <a:latin typeface="Arial"/>
              </a:rPr>
              <a:t>  —  </a:t>
            </a:r>
            <a:r>
              <a:rPr sz="1100" b="0" i="0">
                <a:solidFill>
                  <a:srgbClr val="52586A"/>
                </a:solidFill>
                <a:latin typeface="Arial"/>
              </a:rPr>
              <a:t>AI firms will orbit it for now; the market is too niche for a well-funded start-up takeover.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532119"/>
            <a:ext cx="111556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532119"/>
            <a:ext cx="64008" cy="64008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5532119"/>
            <a:ext cx="10698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 i="0">
                <a:solidFill>
                  <a:srgbClr val="1A1C22"/>
                </a:solidFill>
                <a:latin typeface="Arial"/>
              </a:rPr>
              <a:t>Demand is moving</a:t>
            </a:r>
            <a:r>
              <a:rPr sz="1150" b="1" i="0">
                <a:solidFill>
                  <a:srgbClr val="002060"/>
                </a:solidFill>
                <a:latin typeface="Arial"/>
              </a:rPr>
              <a:t>  —  </a:t>
            </a:r>
            <a:r>
              <a:rPr sz="1100" b="0" i="0">
                <a:solidFill>
                  <a:srgbClr val="52586A"/>
                </a:solidFill>
                <a:latin typeface="Arial"/>
              </a:rPr>
              <a:t>Tool-expertise project demand will fall; client-value demand will grow.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31720"/>
            <a:ext cx="457200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74519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220">
                <a:solidFill>
                  <a:srgbClr val="0070C0"/>
                </a:solidFill>
                <a:latin typeface="Arial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600" b="0" i="0">
                <a:solidFill>
                  <a:srgbClr val="FFFFFF"/>
                </a:solidFill>
                <a:latin typeface="Georgia"/>
              </a:rPr>
              <a:t>Understanding how </a:t>
            </a:r>
            <a:r>
              <a:rPr sz="4600" b="0" i="0">
                <a:solidFill>
                  <a:srgbClr val="0070C0"/>
                </a:solidFill>
                <a:latin typeface="Georgia"/>
              </a:rPr>
              <a:t>AI learns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3977639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8A93A8"/>
                </a:solidFill>
                <a:latin typeface="Arial"/>
              </a:rPr>
              <a:t>Fundamentals &amp; barriers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80">
                <a:solidFill>
                  <a:srgbClr val="4A5270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220">
                <a:solidFill>
                  <a:srgbClr val="0070C0"/>
                </a:solidFill>
                <a:latin typeface="Arial"/>
              </a:rPr>
              <a:t>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300" b="0" i="0">
                <a:solidFill>
                  <a:srgbClr val="1A1C22"/>
                </a:solidFill>
                <a:latin typeface="Georgia"/>
              </a:rPr>
              <a:t>Gen AI vs </a:t>
            </a:r>
            <a:r>
              <a:rPr sz="3300" b="0" i="0">
                <a:solidFill>
                  <a:srgbClr val="0070C0"/>
                </a:solidFill>
                <a:latin typeface="Georgia"/>
              </a:rPr>
              <a:t>traditional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572768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52586A"/>
                </a:solidFill>
                <a:latin typeface="Arial"/>
              </a:rPr>
              <a:t>A brief primer, then what it means for how we build.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E0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 spc="80">
                <a:solidFill>
                  <a:srgbClr val="8A93A8"/>
                </a:solidFill>
                <a:latin typeface="Arial"/>
              </a:rPr>
              <a:t>AI Implementation Strategy  ·  Systems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80">
                <a:solidFill>
                  <a:srgbClr val="8A93A8"/>
                </a:solidFill>
                <a:latin typeface="Arial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361188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3611880" cy="54864"/>
          </a:xfrm>
          <a:prstGeom prst="rect">
            <a:avLst/>
          </a:prstGeom>
          <a:solidFill>
            <a:srgbClr val="00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331720"/>
            <a:ext cx="3300984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spc="140">
                <a:solidFill>
                  <a:srgbClr val="006B6B"/>
                </a:solidFill>
                <a:latin typeface="Arial"/>
              </a:rPr>
              <a:t>STRUCTURE</a:t>
            </a:r>
          </a:p>
          <a:p>
            <a:pPr>
              <a:spcBef>
                <a:spcPts val="300"/>
              </a:spcBef>
            </a:pPr>
            <a:r>
              <a:rPr sz="1300" b="1" i="0">
                <a:solidFill>
                  <a:srgbClr val="1A1C22"/>
                </a:solidFill>
                <a:latin typeface="Arial"/>
              </a:rPr>
              <a:t>Neural networks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 i="0">
                <a:solidFill>
                  <a:srgbClr val="52586A"/>
                </a:solidFill>
                <a:latin typeface="Arial"/>
              </a:rPr>
              <a:t>Billions of weighted nodes, loosely modeled on neurons. The trained weights are the model.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148840"/>
            <a:ext cx="361188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148840"/>
            <a:ext cx="3611880" cy="54864"/>
          </a:xfrm>
          <a:prstGeom prst="rect">
            <a:avLst/>
          </a:prstGeom>
          <a:solidFill>
            <a:srgbClr val="7B4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2331720"/>
            <a:ext cx="3300984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spc="140">
                <a:solidFill>
                  <a:srgbClr val="7B4F00"/>
                </a:solidFill>
                <a:latin typeface="Arial"/>
              </a:rPr>
              <a:t>ONCE, EXPENSIVE</a:t>
            </a:r>
          </a:p>
          <a:p>
            <a:pPr>
              <a:spcBef>
                <a:spcPts val="300"/>
              </a:spcBef>
            </a:pPr>
            <a:r>
              <a:rPr sz="1300" b="1" i="0">
                <a:solidFill>
                  <a:srgbClr val="1A1C22"/>
                </a:solidFill>
                <a:latin typeface="Arial"/>
              </a:rPr>
              <a:t>Training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 i="0">
                <a:solidFill>
                  <a:srgbClr val="52586A"/>
                </a:solidFill>
                <a:latin typeface="Arial"/>
              </a:rPr>
              <a:t>Weights are tuned across vast data to minimize error. Knowledge is baked into the weights.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148840"/>
            <a:ext cx="361188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148840"/>
            <a:ext cx="3611880" cy="54864"/>
          </a:xfrm>
          <a:prstGeom prst="rect">
            <a:avLst/>
          </a:prstGeom>
          <a:solidFill>
            <a:srgbClr val="1A5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2331720"/>
            <a:ext cx="3300984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spc="140">
                <a:solidFill>
                  <a:srgbClr val="1A5E38"/>
                </a:solidFill>
                <a:latin typeface="Arial"/>
              </a:rPr>
              <a:t>EVERY PROMPT</a:t>
            </a:r>
          </a:p>
          <a:p>
            <a:pPr>
              <a:spcBef>
                <a:spcPts val="300"/>
              </a:spcBef>
            </a:pPr>
            <a:r>
              <a:rPr sz="1300" b="1" i="0">
                <a:solidFill>
                  <a:srgbClr val="1A1C22"/>
                </a:solidFill>
                <a:latin typeface="Arial"/>
              </a:rPr>
              <a:t>Inference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 i="0">
                <a:solidFill>
                  <a:srgbClr val="52586A"/>
                </a:solidFill>
                <a:latin typeface="Arial"/>
              </a:rPr>
              <a:t>The trained model predicts the next token from your context. Cheap, constant — this is each prompt.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94760"/>
            <a:ext cx="111556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794760"/>
            <a:ext cx="64008" cy="676656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3794760"/>
            <a:ext cx="106984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 i="0">
                <a:solidFill>
                  <a:srgbClr val="1A1C22"/>
                </a:solidFill>
                <a:latin typeface="Arial"/>
              </a:rPr>
              <a:t>Transparency is impossible</a:t>
            </a:r>
            <a:r>
              <a:rPr sz="1150" b="1" i="0">
                <a:solidFill>
                  <a:srgbClr val="0070C0"/>
                </a:solidFill>
                <a:latin typeface="Arial"/>
              </a:rPr>
              <a:t>  —  </a:t>
            </a:r>
            <a:r>
              <a:rPr sz="1100" b="0" i="0">
                <a:solidFill>
                  <a:srgbClr val="52586A"/>
                </a:solidFill>
                <a:latin typeface="Arial"/>
              </a:rPr>
              <a:t>Billions of nodes and trillions of operations mean you cannot know exactly what went wrong. We refocus on outcomes — eval sets.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562856"/>
            <a:ext cx="111556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562856"/>
            <a:ext cx="64008" cy="676656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4562856"/>
            <a:ext cx="106984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 i="0">
                <a:solidFill>
                  <a:srgbClr val="1A1C22"/>
                </a:solidFill>
                <a:latin typeface="Arial"/>
              </a:rPr>
              <a:t>Hallucination is a feature, not a bug</a:t>
            </a:r>
            <a:r>
              <a:rPr sz="1150" b="1" i="0">
                <a:solidFill>
                  <a:srgbClr val="0070C0"/>
                </a:solidFill>
                <a:latin typeface="Arial"/>
              </a:rPr>
              <a:t>  —  </a:t>
            </a:r>
            <a:r>
              <a:rPr sz="1100" b="0" i="0">
                <a:solidFill>
                  <a:srgbClr val="52586A"/>
                </a:solidFill>
                <a:latin typeface="Arial"/>
              </a:rPr>
              <a:t>It is the same generative mechanism that makes the model useful in the first place.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330952"/>
            <a:ext cx="111556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330952"/>
            <a:ext cx="64008" cy="676656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5330952"/>
            <a:ext cx="106984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 i="0">
                <a:solidFill>
                  <a:srgbClr val="1A1C22"/>
                </a:solidFill>
                <a:latin typeface="Arial"/>
              </a:rPr>
              <a:t>Context is volatile memory</a:t>
            </a:r>
            <a:r>
              <a:rPr sz="1150" b="1" i="0">
                <a:solidFill>
                  <a:srgbClr val="0070C0"/>
                </a:solidFill>
                <a:latin typeface="Arial"/>
              </a:rPr>
              <a:t>  —  </a:t>
            </a:r>
            <a:r>
              <a:rPr sz="1100" b="0" i="0">
                <a:solidFill>
                  <a:srgbClr val="52586A"/>
                </a:solidFill>
                <a:latin typeface="Arial"/>
              </a:rPr>
              <a:t>The model's knowledge lives in its weights; your domain data sits on top via RAG (Claude does this).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220">
                <a:solidFill>
                  <a:srgbClr val="0070C0"/>
                </a:solidFill>
                <a:latin typeface="Arial"/>
              </a:rPr>
              <a:t>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300" b="0" i="0">
                <a:solidFill>
                  <a:srgbClr val="1A1C22"/>
                </a:solidFill>
                <a:latin typeface="Georgia"/>
              </a:rPr>
              <a:t>Data maturity will never </a:t>
            </a:r>
            <a:r>
              <a:rPr sz="3300" b="0" i="0">
                <a:solidFill>
                  <a:srgbClr val="0070C0"/>
                </a:solidFill>
                <a:latin typeface="Georgia"/>
              </a:rPr>
              <a:t>“arrive”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E0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 spc="80">
                <a:solidFill>
                  <a:srgbClr val="8A93A8"/>
                </a:solidFill>
                <a:latin typeface="Arial"/>
              </a:rPr>
              <a:t>AI Implementation Strategy  ·  Systems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80">
                <a:solidFill>
                  <a:srgbClr val="8A93A8"/>
                </a:solidFill>
                <a:latin typeface="Arial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011680"/>
            <a:ext cx="64008" cy="9144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01168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 i="0">
                <a:solidFill>
                  <a:srgbClr val="1A1C22"/>
                </a:solidFill>
                <a:latin typeface="Arial"/>
              </a:rPr>
              <a:t>Stop waiting five years</a:t>
            </a:r>
            <a:r>
              <a:rPr sz="1250" b="1" i="0">
                <a:solidFill>
                  <a:srgbClr val="0070C0"/>
                </a:solidFill>
                <a:latin typeface="Arial"/>
              </a:rPr>
              <a:t>  —  </a:t>
            </a:r>
            <a:r>
              <a:rPr sz="1200" b="0" i="0">
                <a:solidFill>
                  <a:srgbClr val="52586A"/>
                </a:solidFill>
                <a:latin typeface="Arial"/>
              </a:rPr>
              <a:t>We don't tell clients they'll be “AI-ready” in five years.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090672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090672"/>
            <a:ext cx="64008" cy="9144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090672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 i="0">
                <a:solidFill>
                  <a:srgbClr val="1A1C22"/>
                </a:solidFill>
                <a:latin typeface="Arial"/>
              </a:rPr>
              <a:t>Build maturity from outcomes</a:t>
            </a:r>
            <a:r>
              <a:rPr sz="1250" b="1" i="0">
                <a:solidFill>
                  <a:srgbClr val="0070C0"/>
                </a:solidFill>
                <a:latin typeface="Arial"/>
              </a:rPr>
              <a:t>  —  </a:t>
            </a:r>
            <a:r>
              <a:rPr sz="1200" b="0" i="0">
                <a:solidFill>
                  <a:srgbClr val="52586A"/>
                </a:solidFill>
                <a:latin typeface="Arial"/>
              </a:rPr>
              <a:t>You evaluate outputs, you generate synthetic data on what “good” looks like, and you log everything. That log becomes your mature data — and AI does the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9664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169664"/>
            <a:ext cx="64008" cy="9144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4169664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 i="0">
                <a:solidFill>
                  <a:srgbClr val="1A1C22"/>
                </a:solidFill>
                <a:latin typeface="Arial"/>
              </a:rPr>
              <a:t>Garbage in, garbage out — still real</a:t>
            </a:r>
            <a:r>
              <a:rPr sz="1250" b="1" i="0">
                <a:solidFill>
                  <a:srgbClr val="0070C0"/>
                </a:solidFill>
                <a:latin typeface="Arial"/>
              </a:rPr>
              <a:t>  —  </a:t>
            </a:r>
            <a:r>
              <a:rPr sz="1200" b="0" i="0">
                <a:solidFill>
                  <a:srgbClr val="52586A"/>
                </a:solidFill>
                <a:latin typeface="Arial"/>
              </a:rPr>
              <a:t>But with proper data engineering you can build quality data out of garbage.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220">
                <a:solidFill>
                  <a:srgbClr val="0070C0"/>
                </a:solidFill>
                <a:latin typeface="Arial"/>
              </a:rPr>
              <a:t>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300" b="0" i="0">
                <a:solidFill>
                  <a:srgbClr val="1A1C22"/>
                </a:solidFill>
                <a:latin typeface="Georgia"/>
              </a:rPr>
              <a:t>Research &amp; </a:t>
            </a:r>
            <a:r>
              <a:rPr sz="3300" b="0" i="0">
                <a:solidFill>
                  <a:srgbClr val="0070C0"/>
                </a:solidFill>
                <a:latin typeface="Georgia"/>
              </a:rPr>
              <a:t>long conversations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572768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52586A"/>
                </a:solidFill>
                <a:latin typeface="Arial"/>
              </a:rPr>
              <a:t>Context memory is a real, manageable limitation.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E0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 spc="80">
                <a:solidFill>
                  <a:srgbClr val="8A93A8"/>
                </a:solidFill>
                <a:latin typeface="Arial"/>
              </a:rPr>
              <a:t>AI Implementation Strategy  ·  Systems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80">
                <a:solidFill>
                  <a:srgbClr val="8A93A8"/>
                </a:solidFill>
                <a:latin typeface="Arial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4028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40280"/>
            <a:ext cx="64008" cy="914400"/>
          </a:xfrm>
          <a:prstGeom prst="rect">
            <a:avLst/>
          </a:prstGeom>
          <a:solidFill>
            <a:srgbClr val="00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24028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 i="0">
                <a:solidFill>
                  <a:srgbClr val="1A1C22"/>
                </a:solidFill>
                <a:latin typeface="Arial"/>
              </a:rPr>
              <a:t>The model will forget</a:t>
            </a:r>
            <a:r>
              <a:rPr sz="1250" b="1" i="0">
                <a:solidFill>
                  <a:srgbClr val="006B6B"/>
                </a:solidFill>
                <a:latin typeface="Arial"/>
              </a:rPr>
              <a:t>  —  </a:t>
            </a:r>
            <a:r>
              <a:rPr sz="1200" b="0" i="0">
                <a:solidFill>
                  <a:srgbClr val="52586A"/>
                </a:solidFill>
                <a:latin typeface="Arial"/>
              </a:rPr>
              <a:t>At some point context runs out. Manage it: consolidate memory, forget specifics, or embed via RAG.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319272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319272"/>
            <a:ext cx="64008" cy="914400"/>
          </a:xfrm>
          <a:prstGeom prst="rect">
            <a:avLst/>
          </a:prstGeom>
          <a:solidFill>
            <a:srgbClr val="00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319272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 i="0">
                <a:solidFill>
                  <a:srgbClr val="1A1C22"/>
                </a:solidFill>
                <a:latin typeface="Arial"/>
              </a:rPr>
              <a:t>Longer chats cost more</a:t>
            </a:r>
            <a:r>
              <a:rPr sz="1250" b="1" i="0">
                <a:solidFill>
                  <a:srgbClr val="006B6B"/>
                </a:solidFill>
                <a:latin typeface="Arial"/>
              </a:rPr>
              <a:t>  —  </a:t>
            </a:r>
            <a:r>
              <a:rPr sz="1200" b="0" i="0">
                <a:solidFill>
                  <a:srgbClr val="52586A"/>
                </a:solidFill>
                <a:latin typeface="Arial"/>
              </a:rPr>
              <a:t>More information to process as the chat grows means more compute to go through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398264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398264"/>
            <a:ext cx="64008" cy="914400"/>
          </a:xfrm>
          <a:prstGeom prst="rect">
            <a:avLst/>
          </a:prstGeom>
          <a:solidFill>
            <a:srgbClr val="00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398264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 i="0">
                <a:solidFill>
                  <a:srgbClr val="1A1C22"/>
                </a:solidFill>
                <a:latin typeface="Arial"/>
              </a:rPr>
              <a:t>The model doesn't know what matters to you</a:t>
            </a:r>
            <a:r>
              <a:rPr sz="1250" b="1" i="0">
                <a:solidFill>
                  <a:srgbClr val="006B6B"/>
                </a:solidFill>
                <a:latin typeface="Arial"/>
              </a:rPr>
              <a:t>  —  </a:t>
            </a:r>
            <a:r>
              <a:rPr sz="1200" b="0" i="0">
                <a:solidFill>
                  <a:srgbClr val="52586A"/>
                </a:solidFill>
                <a:latin typeface="Arial"/>
              </a:rPr>
              <a:t>A long paper with one relevant paragraph pollutes the research. Manage at input, evaluate at output, and iterate.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220">
                <a:solidFill>
                  <a:srgbClr val="0070C0"/>
                </a:solidFill>
                <a:latin typeface="Arial"/>
              </a:rPr>
              <a:t>FUNDAMENTALS  ·  BARRIERS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300" b="0" i="0">
                <a:solidFill>
                  <a:srgbClr val="1A1C22"/>
                </a:solidFill>
                <a:latin typeface="Georgia"/>
              </a:rPr>
              <a:t>Non-</a:t>
            </a:r>
            <a:r>
              <a:rPr sz="3300" b="0" i="0">
                <a:solidFill>
                  <a:srgbClr val="0070C0"/>
                </a:solidFill>
                <a:latin typeface="Georgia"/>
              </a:rPr>
              <a:t>determinism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572768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52586A"/>
                </a:solidFill>
                <a:latin typeface="Arial"/>
              </a:rPr>
              <a:t>Gen AI is probabilistic by foundation — yet robust products can be built if done properly.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E0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 spc="80">
                <a:solidFill>
                  <a:srgbClr val="8A93A8"/>
                </a:solidFill>
                <a:latin typeface="Arial"/>
              </a:rPr>
              <a:t>AI Implementation Strategy  ·  Systems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80">
                <a:solidFill>
                  <a:srgbClr val="8A93A8"/>
                </a:solidFill>
                <a:latin typeface="Arial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31720"/>
            <a:ext cx="335584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31720"/>
            <a:ext cx="3355848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514600"/>
            <a:ext cx="3044952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300" b="1" i="0">
                <a:solidFill>
                  <a:srgbClr val="1A1C22"/>
                </a:solidFill>
                <a:latin typeface="Arial"/>
              </a:rPr>
              <a:t>Probabilistic by foundation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 i="0">
                <a:solidFill>
                  <a:srgbClr val="52586A"/>
                </a:solidFill>
                <a:latin typeface="Arial"/>
              </a:rPr>
              <a:t>It is not deterministic — design for that.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2331720"/>
            <a:ext cx="335584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2331720"/>
            <a:ext cx="3355848" cy="5486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514600"/>
            <a:ext cx="3044952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300" b="1" i="0">
                <a:solidFill>
                  <a:srgbClr val="1A1C22"/>
                </a:solidFill>
                <a:latin typeface="Arial"/>
              </a:rPr>
              <a:t>Context engineering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 i="0">
                <a:solidFill>
                  <a:srgbClr val="52586A"/>
                </a:solidFill>
                <a:latin typeface="Arial"/>
              </a:rPr>
              <a:t>Broader than prompting: the full context is the scope.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0183" y="2331720"/>
            <a:ext cx="335584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30183" y="2331720"/>
            <a:ext cx="3355848" cy="54864"/>
          </a:xfrm>
          <a:prstGeom prst="rect">
            <a:avLst/>
          </a:prstGeom>
          <a:solidFill>
            <a:srgbClr val="00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94775" y="2514600"/>
            <a:ext cx="3044952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300" b="1" i="0">
                <a:solidFill>
                  <a:srgbClr val="1A1C22"/>
                </a:solidFill>
                <a:latin typeface="Arial"/>
              </a:rPr>
              <a:t>Eval sets &amp; data engineering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 i="0">
                <a:solidFill>
                  <a:srgbClr val="52586A"/>
                </a:solidFill>
                <a:latin typeface="Arial"/>
              </a:rPr>
              <a:t>The discipline that makes output trustworthy.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14800"/>
            <a:ext cx="335584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114800"/>
            <a:ext cx="3355848" cy="54864"/>
          </a:xfrm>
          <a:prstGeom prst="rect">
            <a:avLst/>
          </a:prstGeom>
          <a:solidFill>
            <a:srgbClr val="1A5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4297680"/>
            <a:ext cx="3044952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300" b="1" i="0">
                <a:solidFill>
                  <a:srgbClr val="1A1C22"/>
                </a:solidFill>
                <a:latin typeface="Arial"/>
              </a:rPr>
              <a:t>Closed-loop iteration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 i="0">
                <a:solidFill>
                  <a:srgbClr val="52586A"/>
                </a:solidFill>
                <a:latin typeface="Arial"/>
              </a:rPr>
              <a:t>Build the feedback loop into the product.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16552" y="4114800"/>
            <a:ext cx="335584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16552" y="4114800"/>
            <a:ext cx="3355848" cy="54864"/>
          </a:xfrm>
          <a:prstGeom prst="rect">
            <a:avLst/>
          </a:prstGeom>
          <a:solidFill>
            <a:srgbClr val="7B4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1144" y="4297680"/>
            <a:ext cx="3044952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300" b="1" i="0">
                <a:solidFill>
                  <a:srgbClr val="1A1C22"/>
                </a:solidFill>
                <a:latin typeface="Arial"/>
              </a:rPr>
              <a:t>Agents evaluating agents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 i="0">
                <a:solidFill>
                  <a:srgbClr val="52586A"/>
                </a:solidFill>
                <a:latin typeface="Arial"/>
              </a:rPr>
              <a:t>Models check models for calibration at scale.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30183" y="4114800"/>
            <a:ext cx="335584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30183" y="4114800"/>
            <a:ext cx="3355848" cy="548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94775" y="4297680"/>
            <a:ext cx="3044952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300" b="1" i="0">
                <a:solidFill>
                  <a:srgbClr val="1A1C22"/>
                </a:solidFill>
                <a:latin typeface="Arial"/>
              </a:rPr>
              <a:t>Oversight where critical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 i="0">
                <a:solidFill>
                  <a:srgbClr val="52586A"/>
                </a:solidFill>
                <a:latin typeface="Arial"/>
              </a:rPr>
              <a:t>Human oversight is required where applications are critical.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220">
                <a:solidFill>
                  <a:srgbClr val="0070C0"/>
                </a:solidFill>
                <a:latin typeface="Arial"/>
              </a:rPr>
              <a:t>FUNDAMENTALS  ·  BARRIERS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300" b="0" i="0">
                <a:solidFill>
                  <a:srgbClr val="1A1C22"/>
                </a:solidFill>
                <a:latin typeface="Georgia"/>
              </a:rPr>
              <a:t>Non-</a:t>
            </a:r>
            <a:r>
              <a:rPr sz="3300" b="0" i="0">
                <a:solidFill>
                  <a:srgbClr val="0070C0"/>
                </a:solidFill>
                <a:latin typeface="Georgia"/>
              </a:rPr>
              <a:t>creativity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E0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 spc="80">
                <a:solidFill>
                  <a:srgbClr val="8A93A8"/>
                </a:solidFill>
                <a:latin typeface="Arial"/>
              </a:rPr>
              <a:t>AI Implementation Strategy  ·  Systems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80">
                <a:solidFill>
                  <a:srgbClr val="8A93A8"/>
                </a:solidFill>
                <a:latin typeface="Arial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77440"/>
            <a:ext cx="5440680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377440"/>
            <a:ext cx="64008" cy="2651760"/>
          </a:xfrm>
          <a:prstGeom prst="rect">
            <a:avLst/>
          </a:prstGeom>
          <a:solidFill>
            <a:srgbClr val="525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93776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1" i="0" spc="140">
                <a:solidFill>
                  <a:srgbClr val="52586A"/>
                </a:solidFill>
                <a:latin typeface="Arial"/>
              </a:rPr>
              <a:t>THE MECHANISM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600" b="1" i="0">
                <a:solidFill>
                  <a:srgbClr val="1A1C22"/>
                </a:solidFill>
                <a:latin typeface="Georgia"/>
              </a:rPr>
              <a:t>At its core, AI is weighted averages.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250" b="0" i="0">
                <a:solidFill>
                  <a:srgbClr val="52586A"/>
                </a:solidFill>
                <a:latin typeface="Arial"/>
              </a:rPr>
              <a:t>It is not, by construction, likely to be truly creative.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2377440"/>
            <a:ext cx="5440680" cy="2651760"/>
          </a:xfrm>
          <a:prstGeom prst="roundRect">
            <a:avLst>
              <a:gd name="adj" fmla="val 4000"/>
            </a:avLst>
          </a:prstGeom>
          <a:solidFill>
            <a:srgbClr val="E6EEF7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2377440"/>
            <a:ext cx="64008" cy="265176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651760"/>
            <a:ext cx="493776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1" i="0" spc="140">
                <a:solidFill>
                  <a:srgbClr val="0070C0"/>
                </a:solidFill>
                <a:latin typeface="Arial"/>
              </a:rPr>
              <a:t>I ARGUE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600" b="1" i="0">
                <a:solidFill>
                  <a:srgbClr val="002060"/>
                </a:solidFill>
                <a:latin typeface="Georgia"/>
              </a:rPr>
              <a:t>Knowledge is always modular.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250" b="0" i="0">
                <a:solidFill>
                  <a:srgbClr val="0D3060"/>
                </a:solidFill>
                <a:latin typeface="Arial"/>
              </a:rPr>
              <a:t>How you combine it is where the creativity lives — and that is human work.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31720"/>
            <a:ext cx="457200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74519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220">
                <a:solidFill>
                  <a:srgbClr val="0070C0"/>
                </a:solidFill>
                <a:latin typeface="Arial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600" b="0" i="0">
                <a:solidFill>
                  <a:srgbClr val="FFFFFF"/>
                </a:solidFill>
                <a:latin typeface="Georgia"/>
              </a:rPr>
              <a:t>Building </a:t>
            </a:r>
            <a:r>
              <a:rPr sz="4600" b="0" i="0">
                <a:solidFill>
                  <a:srgbClr val="0070C0"/>
                </a:solidFill>
                <a:latin typeface="Georgia"/>
              </a:rPr>
              <a:t>Products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3977639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8A93A8"/>
                </a:solidFill>
                <a:latin typeface="Arial"/>
              </a:rPr>
              <a:t>Agents, applications &amp; more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80">
                <a:solidFill>
                  <a:srgbClr val="4A527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220">
                <a:solidFill>
                  <a:srgbClr val="0070C0"/>
                </a:solidFill>
                <a:latin typeface="Arial"/>
              </a:rPr>
              <a:t>BUILDING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300" b="0" i="0">
                <a:solidFill>
                  <a:srgbClr val="1A1C22"/>
                </a:solidFill>
                <a:latin typeface="Georgia"/>
              </a:rPr>
              <a:t>The good news for the </a:t>
            </a:r>
            <a:r>
              <a:rPr sz="3300" b="0" i="0">
                <a:solidFill>
                  <a:srgbClr val="0070C0"/>
                </a:solidFill>
                <a:latin typeface="Georgia"/>
              </a:rPr>
              <a:t>systems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572768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52586A"/>
                </a:solidFill>
                <a:latin typeface="Arial"/>
              </a:rPr>
              <a:t>Your existing instincts transfer directly — here is what to add.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E0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 spc="80">
                <a:solidFill>
                  <a:srgbClr val="8A93A8"/>
                </a:solidFill>
                <a:latin typeface="Arial"/>
              </a:rPr>
              <a:t>AI Implementation Strategy  ·  Systems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80">
                <a:solidFill>
                  <a:srgbClr val="8A93A8"/>
                </a:solidFill>
                <a:latin typeface="Arial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029200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029200" cy="54864"/>
          </a:xfrm>
          <a:prstGeom prst="rect">
            <a:avLst/>
          </a:prstGeom>
          <a:solidFill>
            <a:srgbClr val="1A5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87168"/>
            <a:ext cx="4617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20">
                <a:solidFill>
                  <a:srgbClr val="1A5E38"/>
                </a:solidFill>
                <a:latin typeface="Arial"/>
              </a:rPr>
              <a:t>YOU ALREADY UNDERSTAND</a:t>
            </a:r>
          </a:p>
          <a:p>
            <a:pPr>
              <a:lnSpc>
                <a:spcPct val="118000"/>
              </a:lnSpc>
              <a:spcBef>
                <a:spcPts val="900"/>
              </a:spcBef>
            </a:pPr>
            <a:r>
              <a:rPr sz="1200" b="1" i="0">
                <a:solidFill>
                  <a:srgbClr val="1A5E38"/>
                </a:solidFill>
                <a:latin typeface="Arial"/>
              </a:rPr>
              <a:t>✓  </a:t>
            </a:r>
            <a:r>
              <a:rPr sz="1200" b="0" i="0">
                <a:solidFill>
                  <a:srgbClr val="1A1C22"/>
                </a:solidFill>
                <a:latin typeface="Arial"/>
              </a:rPr>
              <a:t>Modular architecture — a black-box view of a system or component is fine</a:t>
            </a:r>
          </a:p>
          <a:p>
            <a:pPr>
              <a:lnSpc>
                <a:spcPct val="118000"/>
              </a:lnSpc>
              <a:spcBef>
                <a:spcPts val="900"/>
              </a:spcBef>
            </a:pPr>
            <a:r>
              <a:rPr sz="1200" b="1" i="0">
                <a:solidFill>
                  <a:srgbClr val="1A5E38"/>
                </a:solidFill>
                <a:latin typeface="Arial"/>
              </a:rPr>
              <a:t>✓  </a:t>
            </a:r>
            <a:r>
              <a:rPr sz="1200" b="0" i="0">
                <a:solidFill>
                  <a:srgbClr val="1A1C22"/>
                </a:solidFill>
                <a:latin typeface="Arial"/>
              </a:rPr>
              <a:t>Interface problems</a:t>
            </a:r>
          </a:p>
          <a:p>
            <a:pPr>
              <a:lnSpc>
                <a:spcPct val="118000"/>
              </a:lnSpc>
              <a:spcBef>
                <a:spcPts val="900"/>
              </a:spcBef>
            </a:pPr>
            <a:r>
              <a:rPr sz="1200" b="1" i="0">
                <a:solidFill>
                  <a:srgbClr val="1A5E38"/>
                </a:solidFill>
                <a:latin typeface="Arial"/>
              </a:rPr>
              <a:t>✓  </a:t>
            </a:r>
            <a:r>
              <a:rPr sz="1200" b="0" i="0">
                <a:solidFill>
                  <a:srgbClr val="1A1C22"/>
                </a:solidFill>
                <a:latin typeface="Arial"/>
              </a:rPr>
              <a:t>Development cycles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2286000"/>
            <a:ext cx="5833872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0" y="2286000"/>
            <a:ext cx="5833872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2487168"/>
            <a:ext cx="5422392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20">
                <a:solidFill>
                  <a:srgbClr val="0070C0"/>
                </a:solidFill>
                <a:latin typeface="Arial"/>
              </a:rPr>
              <a:t>I ADVISE</a:t>
            </a:r>
          </a:p>
          <a:p>
            <a:pPr>
              <a:lnSpc>
                <a:spcPct val="113000"/>
              </a:lnSpc>
              <a:spcBef>
                <a:spcPts val="600"/>
              </a:spcBef>
            </a:pPr>
            <a:r>
              <a:rPr sz="1100" b="1" i="0">
                <a:solidFill>
                  <a:srgbClr val="0070C0"/>
                </a:solidFill>
                <a:latin typeface="Arial"/>
              </a:rPr>
              <a:t>→  </a:t>
            </a:r>
            <a:r>
              <a:rPr sz="1080" b="0" i="0">
                <a:solidFill>
                  <a:srgbClr val="52586A"/>
                </a:solidFill>
                <a:latin typeface="Arial"/>
              </a:rPr>
              <a:t>Learn what modules and platforms exist — and how to discover them; the field moves daily and you can't keep up without leaning on AI</a:t>
            </a:r>
          </a:p>
          <a:p>
            <a:pPr>
              <a:lnSpc>
                <a:spcPct val="113000"/>
              </a:lnSpc>
              <a:spcBef>
                <a:spcPts val="600"/>
              </a:spcBef>
            </a:pPr>
            <a:r>
              <a:rPr sz="1100" b="1" i="0">
                <a:solidFill>
                  <a:srgbClr val="0070C0"/>
                </a:solidFill>
                <a:latin typeface="Arial"/>
              </a:rPr>
              <a:t>→  </a:t>
            </a:r>
            <a:r>
              <a:rPr sz="1080" b="0" i="0">
                <a:solidFill>
                  <a:srgbClr val="52586A"/>
                </a:solidFill>
                <a:latin typeface="Arial"/>
              </a:rPr>
              <a:t>Know which problems aren't worth solving, or are too expensive — and why</a:t>
            </a:r>
          </a:p>
          <a:p>
            <a:pPr>
              <a:lnSpc>
                <a:spcPct val="113000"/>
              </a:lnSpc>
              <a:spcBef>
                <a:spcPts val="600"/>
              </a:spcBef>
            </a:pPr>
            <a:r>
              <a:rPr sz="1100" b="1" i="0">
                <a:solidFill>
                  <a:srgbClr val="0070C0"/>
                </a:solidFill>
                <a:latin typeface="Arial"/>
              </a:rPr>
              <a:t>→  </a:t>
            </a:r>
            <a:r>
              <a:rPr sz="1080" b="0" i="0">
                <a:solidFill>
                  <a:srgbClr val="52586A"/>
                </a:solidFill>
                <a:latin typeface="Arial"/>
              </a:rPr>
              <a:t>Adopt wider scopes — ideation-to-product is a reality now</a:t>
            </a:r>
          </a:p>
          <a:p>
            <a:pPr>
              <a:lnSpc>
                <a:spcPct val="113000"/>
              </a:lnSpc>
              <a:spcBef>
                <a:spcPts val="600"/>
              </a:spcBef>
            </a:pPr>
            <a:r>
              <a:rPr sz="1100" b="1" i="0">
                <a:solidFill>
                  <a:srgbClr val="0070C0"/>
                </a:solidFill>
                <a:latin typeface="Arial"/>
              </a:rPr>
              <a:t>→  </a:t>
            </a:r>
            <a:r>
              <a:rPr sz="1080" b="0" i="0">
                <a:solidFill>
                  <a:srgbClr val="52586A"/>
                </a:solidFill>
                <a:latin typeface="Arial"/>
              </a:rPr>
              <a:t>Build for yourself and your team — most builders need a domain expert, and most domain experts need a builder. That barrier has never been lower</a:t>
            </a:r>
          </a:p>
          <a:p>
            <a:pPr>
              <a:lnSpc>
                <a:spcPct val="113000"/>
              </a:lnSpc>
              <a:spcBef>
                <a:spcPts val="600"/>
              </a:spcBef>
            </a:pPr>
            <a:r>
              <a:rPr sz="1100" b="1" i="0">
                <a:solidFill>
                  <a:srgbClr val="0070C0"/>
                </a:solidFill>
                <a:latin typeface="Arial"/>
              </a:rPr>
              <a:t>→  </a:t>
            </a:r>
            <a:r>
              <a:rPr sz="1080" b="0" i="0">
                <a:solidFill>
                  <a:srgbClr val="52586A"/>
                </a:solidFill>
                <a:latin typeface="Arial"/>
              </a:rPr>
              <a:t>Build around the technology's limits with proper architecture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220">
                <a:solidFill>
                  <a:srgbClr val="0070C0"/>
                </a:solidFill>
                <a:latin typeface="Arial"/>
              </a:rPr>
              <a:t>BUILDING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300" b="0" i="0">
                <a:solidFill>
                  <a:srgbClr val="1A1C22"/>
                </a:solidFill>
                <a:latin typeface="Georgia"/>
              </a:rPr>
              <a:t>The </a:t>
            </a:r>
            <a:r>
              <a:rPr sz="3300" b="0" i="0">
                <a:solidFill>
                  <a:srgbClr val="0070C0"/>
                </a:solidFill>
                <a:latin typeface="Georgia"/>
              </a:rPr>
              <a:t>interface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572768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52586A"/>
                </a:solidFill>
                <a:latin typeface="Arial"/>
              </a:rPr>
              <a:t>A great deal of value comes from integration — and you lose it on a subpar platform.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E0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 spc="80">
                <a:solidFill>
                  <a:srgbClr val="8A93A8"/>
                </a:solidFill>
                <a:latin typeface="Arial"/>
              </a:rPr>
              <a:t>AI Implementation Strategy  ·  Systems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80">
                <a:solidFill>
                  <a:srgbClr val="8A93A8"/>
                </a:solidFill>
                <a:latin typeface="Arial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40280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40280"/>
            <a:ext cx="64008" cy="65836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240280"/>
            <a:ext cx="10698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 i="0">
                <a:solidFill>
                  <a:srgbClr val="1A1C22"/>
                </a:solidFill>
                <a:latin typeface="Arial"/>
              </a:rPr>
              <a:t>If an app won't talk to you, it's probably not worth it</a:t>
            </a:r>
            <a:r>
              <a:rPr sz="1150" b="1" i="0">
                <a:solidFill>
                  <a:srgbClr val="0070C0"/>
                </a:solidFill>
                <a:latin typeface="Arial"/>
              </a:rPr>
              <a:t>  —  </a:t>
            </a:r>
            <a:r>
              <a:rPr sz="1080" b="0" i="0">
                <a:solidFill>
                  <a:srgbClr val="52586A"/>
                </a:solidFill>
                <a:latin typeface="Arial"/>
              </a:rPr>
              <a:t>The willingness to integrate is itself a signal of value.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90088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990088"/>
            <a:ext cx="64008" cy="65836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990088"/>
            <a:ext cx="10698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 i="0">
                <a:solidFill>
                  <a:srgbClr val="1A1C22"/>
                </a:solidFill>
                <a:latin typeface="Arial"/>
              </a:rPr>
              <a:t>Intermediary formats bridge the gap</a:t>
            </a:r>
            <a:r>
              <a:rPr sz="1150" b="1" i="0">
                <a:solidFill>
                  <a:srgbClr val="0070C0"/>
                </a:solidFill>
                <a:latin typeface="Arial"/>
              </a:rPr>
              <a:t>  —  </a:t>
            </a:r>
            <a:r>
              <a:rPr sz="1080" b="0" i="0">
                <a:solidFill>
                  <a:srgbClr val="52586A"/>
                </a:solidFill>
                <a:latin typeface="Arial"/>
              </a:rPr>
              <a:t>Excel is the lingua franca between tools that don't otherwise connect.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39896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39896"/>
            <a:ext cx="64008" cy="65836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739896"/>
            <a:ext cx="10698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 i="0">
                <a:solidFill>
                  <a:srgbClr val="1A1C22"/>
                </a:solidFill>
                <a:latin typeface="Arial"/>
              </a:rPr>
              <a:t>Integration is where value lives</a:t>
            </a:r>
            <a:r>
              <a:rPr sz="1150" b="1" i="0">
                <a:solidFill>
                  <a:srgbClr val="0070C0"/>
                </a:solidFill>
                <a:latin typeface="Arial"/>
              </a:rPr>
              <a:t>  —  </a:t>
            </a:r>
            <a:r>
              <a:rPr sz="1080" b="0" i="0">
                <a:solidFill>
                  <a:srgbClr val="52586A"/>
                </a:solidFill>
                <a:latin typeface="Arial"/>
              </a:rPr>
              <a:t>Claude has invested heavily in interfaces; Gemini binds to the Google ecosystem.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489704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489704"/>
            <a:ext cx="64008" cy="65836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4489704"/>
            <a:ext cx="10698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 i="0">
                <a:solidFill>
                  <a:srgbClr val="1A1C22"/>
                </a:solidFill>
                <a:latin typeface="Arial"/>
              </a:rPr>
              <a:t>Fully-autonomous computer-use agents — the maximal end</a:t>
            </a:r>
            <a:r>
              <a:rPr sz="1150" b="1" i="0">
                <a:solidFill>
                  <a:srgbClr val="0070C0"/>
                </a:solidFill>
                <a:latin typeface="Arial"/>
              </a:rPr>
              <a:t>  —  </a:t>
            </a:r>
            <a:r>
              <a:rPr sz="1080" b="0" i="0">
                <a:solidFill>
                  <a:srgbClr val="52586A"/>
                </a:solidFill>
                <a:latin typeface="Arial"/>
              </a:rPr>
              <a:t>Open frameworks that drive your entire desktop/browser with minimal guardrails: maximal power, maximal setup and oversight burden — “too much for us” today. [confirm tool name]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239512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239512"/>
            <a:ext cx="64008" cy="65836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5239512"/>
            <a:ext cx="10698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 i="0">
                <a:solidFill>
                  <a:srgbClr val="1A1C22"/>
                </a:solidFill>
                <a:latin typeface="Arial"/>
              </a:rPr>
              <a:t>A bare LLM wrapper loses all of this</a:t>
            </a:r>
            <a:r>
              <a:rPr sz="1150" b="1" i="0">
                <a:solidFill>
                  <a:srgbClr val="0070C0"/>
                </a:solidFill>
                <a:latin typeface="Arial"/>
              </a:rPr>
              <a:t>  —  </a:t>
            </a:r>
            <a:r>
              <a:rPr sz="1080" b="0" i="0">
                <a:solidFill>
                  <a:srgbClr val="52586A"/>
                </a:solidFill>
                <a:latin typeface="Arial"/>
              </a:rPr>
              <a:t>On a subpar platform that just calls the model, the integration value is gone.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220">
                <a:solidFill>
                  <a:srgbClr val="0070C0"/>
                </a:solidFill>
                <a:latin typeface="Arial"/>
              </a:rPr>
              <a:t>BUILDING PRODUCTS  ·  INTERFACES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300" b="0" i="0">
                <a:solidFill>
                  <a:srgbClr val="1A1C22"/>
                </a:solidFill>
                <a:latin typeface="Georgia"/>
              </a:rPr>
              <a:t>Claude </a:t>
            </a:r>
            <a:r>
              <a:rPr sz="3300" b="0" i="0">
                <a:solidFill>
                  <a:srgbClr val="0070C0"/>
                </a:solidFill>
                <a:latin typeface="Georgia"/>
              </a:rPr>
              <a:t>Chat · Cowork ·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572768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52586A"/>
                </a:solidFill>
                <a:latin typeface="Arial"/>
              </a:rPr>
              <a:t>What can actually interface with your work — the dimension I care about most.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E0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 spc="80">
                <a:solidFill>
                  <a:srgbClr val="8A93A8"/>
                </a:solidFill>
                <a:latin typeface="Arial"/>
              </a:rPr>
              <a:t>AI Implementation Strategy  ·  Systems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80">
                <a:solidFill>
                  <a:srgbClr val="8A93A8"/>
                </a:solidFill>
                <a:latin typeface="Arial"/>
              </a:rPr>
              <a:t>18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194560"/>
          <a:ext cx="1118311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807208"/>
                <a:gridCol w="2816352"/>
                <a:gridCol w="2816352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EEF2F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54864" marT="36576" marB="36576" anchor="ctr">
                    <a:solidFill>
                      <a:srgbClr val="1A1C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EEF2FA"/>
                          </a:solidFill>
                          <a:latin typeface="Arial"/>
                        </a:rPr>
                        <a:t>Claude Chat</a:t>
                      </a:r>
                    </a:p>
                  </a:txBody>
                  <a:tcPr marL="91440" marR="54864" marT="36576" marB="36576" anchor="ctr">
                    <a:solidFill>
                      <a:srgbClr val="1A1C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EEF2FA"/>
                          </a:solidFill>
                          <a:latin typeface="Arial"/>
                        </a:rPr>
                        <a:t>Claude Cowork</a:t>
                      </a:r>
                    </a:p>
                  </a:txBody>
                  <a:tcPr marL="91440" marR="54864" marT="36576" marB="36576" anchor="ctr">
                    <a:solidFill>
                      <a:srgbClr val="1A1C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70C0"/>
                          </a:solidFill>
                          <a:latin typeface="Arial"/>
                        </a:rPr>
                        <a:t>Claude Code</a:t>
                      </a:r>
                    </a:p>
                  </a:txBody>
                  <a:tcPr marL="91440" marR="54864" marT="36576" marB="36576" anchor="ctr">
                    <a:solidFill>
                      <a:srgbClr val="1A1C2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2060"/>
                          </a:solidFill>
                          <a:latin typeface="Arial"/>
                        </a:rPr>
                        <a:t>Interface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52586A"/>
                          </a:solidFill>
                          <a:latin typeface="Arial"/>
                        </a:rPr>
                        <a:t>Browser, conversational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52586A"/>
                          </a:solidFill>
                          <a:latin typeface="Arial"/>
                        </a:rPr>
                        <a:t>Desktop project workspace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D3060"/>
                          </a:solidFill>
                          <a:latin typeface="Arial"/>
                        </a:rPr>
                        <a:t>Terminal + native desktop app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2060"/>
                          </a:solidFill>
                          <a:latin typeface="Arial"/>
                        </a:rPr>
                        <a:t>Connection to your systems</a:t>
                      </a:r>
                    </a:p>
                  </a:txBody>
                  <a:tcPr marL="91440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52586A"/>
                          </a:solidFill>
                          <a:latin typeface="Arial"/>
                        </a:rPr>
                        <a:t>None — output only</a:t>
                      </a:r>
                    </a:p>
                  </a:txBody>
                  <a:tcPr marL="91440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52586A"/>
                          </a:solidFill>
                          <a:latin typeface="Arial"/>
                        </a:rPr>
                        <a:t>Selected files &amp; connectors</a:t>
                      </a:r>
                    </a:p>
                  </a:txBody>
                  <a:tcPr marL="91440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D3060"/>
                          </a:solidFill>
                          <a:latin typeface="Arial"/>
                        </a:rPr>
                        <a:t>Full — files, apps, shell, systems</a:t>
                      </a:r>
                    </a:p>
                  </a:txBody>
                  <a:tcPr marL="91440" marR="54864" marT="27432" marB="27432" anchor="ctr"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2060"/>
                          </a:solidFill>
                          <a:latin typeface="Arial"/>
                        </a:rPr>
                        <a:t>Memory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52586A"/>
                          </a:solidFill>
                          <a:latin typeface="Arial"/>
                        </a:rPr>
                        <a:t>Per-conversation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52586A"/>
                          </a:solidFill>
                          <a:latin typeface="Arial"/>
                        </a:rPr>
                        <a:t>Persistent skills &amp; standards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D3060"/>
                          </a:solidFill>
                          <a:latin typeface="Arial"/>
                        </a:rPr>
                        <a:t>Persistent via CLAUDE.md, repo-shared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2060"/>
                          </a:solidFill>
                          <a:latin typeface="Arial"/>
                        </a:rPr>
                        <a:t>Files</a:t>
                      </a:r>
                    </a:p>
                  </a:txBody>
                  <a:tcPr marL="91440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52586A"/>
                          </a:solidFill>
                          <a:latin typeface="Arial"/>
                        </a:rPr>
                        <a:t>Attach for analysis</a:t>
                      </a:r>
                    </a:p>
                  </a:txBody>
                  <a:tcPr marL="91440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52586A"/>
                          </a:solidFill>
                          <a:latin typeface="Arial"/>
                        </a:rPr>
                        <a:t>Project files, some live</a:t>
                      </a:r>
                    </a:p>
                  </a:txBody>
                  <a:tcPr marL="91440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D3060"/>
                          </a:solidFill>
                          <a:latin typeface="Arial"/>
                        </a:rPr>
                        <a:t>Read / write any file directly</a:t>
                      </a:r>
                    </a:p>
                  </a:txBody>
                  <a:tcPr marL="91440" marR="54864" marT="27432" marB="27432" anchor="ctr"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2060"/>
                          </a:solidFill>
                          <a:latin typeface="Arial"/>
                        </a:rPr>
                        <a:t>Live Excel / PowerPoint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52586A"/>
                          </a:solidFill>
                          <a:latin typeface="Arial"/>
                        </a:rPr>
                        <a:t>Copy-paste only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52586A"/>
                          </a:solidFill>
                          <a:latin typeface="Arial"/>
                        </a:rPr>
                        <a:t>Limited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D3060"/>
                          </a:solidFill>
                          <a:latin typeface="Arial"/>
                        </a:rPr>
                        <a:t>Native — no copy-paste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2060"/>
                          </a:solidFill>
                          <a:latin typeface="Arial"/>
                        </a:rPr>
                        <a:t>Build &amp; deploy software</a:t>
                      </a:r>
                    </a:p>
                  </a:txBody>
                  <a:tcPr marL="91440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52586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91440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52586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91440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D306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91440" marR="54864" marT="27432" marB="27432" anchor="ctr"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2060"/>
                          </a:solidFill>
                          <a:latin typeface="Arial"/>
                        </a:rPr>
                        <a:t>Web · GitHub · Drive · MCP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52586A"/>
                          </a:solidFill>
                          <a:latin typeface="Arial"/>
                        </a:rPr>
                        <a:t>Limited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52586A"/>
                          </a:solidFill>
                          <a:latin typeface="Arial"/>
                        </a:rPr>
                        <a:t>Some connectors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D3060"/>
                          </a:solidFill>
                          <a:latin typeface="Arial"/>
                        </a:rPr>
                        <a:t>Full (MCP)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2060"/>
                          </a:solidFill>
                          <a:latin typeface="Arial"/>
                        </a:rPr>
                        <a:t>Oversight model</a:t>
                      </a:r>
                    </a:p>
                  </a:txBody>
                  <a:tcPr marL="91440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52586A"/>
                          </a:solidFill>
                          <a:latin typeface="Arial"/>
                        </a:rPr>
                        <a:t>Manual use of output</a:t>
                      </a:r>
                    </a:p>
                  </a:txBody>
                  <a:tcPr marL="91440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52586A"/>
                          </a:solidFill>
                          <a:latin typeface="Arial"/>
                        </a:rPr>
                        <a:t>Review in workspace</a:t>
                      </a:r>
                    </a:p>
                  </a:txBody>
                  <a:tcPr marL="91440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D3060"/>
                          </a:solidFill>
                          <a:latin typeface="Arial"/>
                        </a:rPr>
                        <a:t>Plan → approve before any change</a:t>
                      </a:r>
                    </a:p>
                  </a:txBody>
                  <a:tcPr marL="91440" marR="54864" marT="27432" marB="27432" anchor="ctr"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2060"/>
                          </a:solidFill>
                          <a:latin typeface="Arial"/>
                        </a:rPr>
                        <a:t>Best for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52586A"/>
                          </a:solidFill>
                          <a:latin typeface="Arial"/>
                        </a:rPr>
                        <a:t>Drafting, Q&amp;A, ideas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52586A"/>
                          </a:solidFill>
                          <a:latin typeface="Arial"/>
                        </a:rPr>
                        <a:t>Team standards &amp; workflows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D3060"/>
                          </a:solidFill>
                          <a:latin typeface="Arial"/>
                        </a:rPr>
                        <a:t>Automation, live docs, building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220">
                <a:solidFill>
                  <a:srgbClr val="0070C0"/>
                </a:solidFill>
                <a:latin typeface="Arial"/>
              </a:rPr>
              <a:t>BUILDING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300" b="0" i="0">
                <a:solidFill>
                  <a:srgbClr val="1A1C22"/>
                </a:solidFill>
                <a:latin typeface="Georgia"/>
              </a:rPr>
              <a:t>The development </a:t>
            </a:r>
            <a:r>
              <a:rPr sz="3300" b="0" i="0">
                <a:solidFill>
                  <a:srgbClr val="0070C0"/>
                </a:solidFill>
                <a:latin typeface="Georgia"/>
              </a:rPr>
              <a:t>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572768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52586A"/>
                </a:solidFill>
                <a:latin typeface="Arial"/>
              </a:rPr>
              <a:t>Five phases from concept to deployed product. Evaluate loops back to Write until the eval set passes.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E0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 spc="80">
                <a:solidFill>
                  <a:srgbClr val="8A93A8"/>
                </a:solidFill>
                <a:latin typeface="Arial"/>
              </a:rPr>
              <a:t>AI Implementation Strategy  ·  Systems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80">
                <a:solidFill>
                  <a:srgbClr val="8A93A8"/>
                </a:solidFill>
                <a:latin typeface="Arial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14600"/>
            <a:ext cx="199339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2225">
            <a:solidFill>
              <a:srgbClr val="5258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514600"/>
            <a:ext cx="1993392" cy="64008"/>
          </a:xfrm>
          <a:prstGeom prst="rect">
            <a:avLst/>
          </a:prstGeom>
          <a:solidFill>
            <a:srgbClr val="525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71907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spc="120">
                <a:solidFill>
                  <a:srgbClr val="52586A"/>
                </a:solidFill>
                <a:latin typeface="Arial"/>
              </a:rPr>
              <a:t>OPTIONAL</a:t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1A1C22"/>
                </a:solidFill>
                <a:latin typeface="Georgia"/>
              </a:rPr>
              <a:t>Consult</a:t>
            </a:r>
          </a:p>
          <a:p>
            <a:pPr>
              <a:lnSpc>
                <a:spcPct val="105000"/>
              </a:lnSpc>
              <a:spcBef>
                <a:spcPts val="500"/>
              </a:spcBef>
            </a:pPr>
            <a:r>
              <a:rPr sz="900" b="0" i="0">
                <a:solidFill>
                  <a:srgbClr val="52586A"/>
                </a:solidFill>
                <a:latin typeface="Arial"/>
              </a:rPr>
              <a:t>Map the landscape when the</a:t>
            </a:r>
          </a:p>
          <a:p>
            <a:pPr>
              <a:lnSpc>
                <a:spcPct val="105000"/>
              </a:lnSpc>
            </a:pPr>
            <a:r>
              <a:rPr sz="900" b="0" i="0">
                <a:solidFill>
                  <a:srgbClr val="52586A"/>
                </a:solidFill>
                <a:latin typeface="Arial"/>
              </a:rPr>
              <a:t>solution space is unclear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3108960"/>
            <a:ext cx="25603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6312" y="3054096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9AA0B4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2514600"/>
            <a:ext cx="199339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22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2514600"/>
            <a:ext cx="1993392" cy="6400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79" y="2697480"/>
            <a:ext cx="171907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spc="120">
                <a:solidFill>
                  <a:srgbClr val="0070C0"/>
                </a:solidFill>
                <a:latin typeface="Arial"/>
              </a:rPr>
              <a:t>PHASE 1</a:t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1A1C22"/>
                </a:solidFill>
                <a:latin typeface="Georgia"/>
              </a:rPr>
              <a:t>Think</a:t>
            </a:r>
          </a:p>
          <a:p>
            <a:pPr>
              <a:lnSpc>
                <a:spcPct val="105000"/>
              </a:lnSpc>
              <a:spcBef>
                <a:spcPts val="500"/>
              </a:spcBef>
            </a:pPr>
            <a:r>
              <a:rPr sz="900" b="0" i="0">
                <a:solidFill>
                  <a:srgbClr val="52586A"/>
                </a:solidFill>
                <a:latin typeface="Arial"/>
              </a:rPr>
              <a:t>Land the concept into a</a:t>
            </a:r>
          </a:p>
          <a:p>
            <a:pPr>
              <a:lnSpc>
                <a:spcPct val="105000"/>
              </a:lnSpc>
            </a:pPr>
            <a:r>
              <a:rPr sz="900" b="0" i="0">
                <a:solidFill>
                  <a:srgbClr val="52586A"/>
                </a:solidFill>
                <a:latin typeface="Arial"/>
              </a:rPr>
              <a:t>buildable spec + eval set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3108960"/>
            <a:ext cx="25603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2312" y="3054096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9AA0B4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2514600"/>
            <a:ext cx="199339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22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4920" y="2514600"/>
            <a:ext cx="1993392" cy="6400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2697480"/>
            <a:ext cx="171907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spc="120">
                <a:solidFill>
                  <a:srgbClr val="002060"/>
                </a:solidFill>
                <a:latin typeface="Arial"/>
              </a:rPr>
              <a:t>PHASE 2</a:t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1A1C22"/>
                </a:solidFill>
                <a:latin typeface="Georgia"/>
              </a:rPr>
              <a:t>Write</a:t>
            </a:r>
          </a:p>
          <a:p>
            <a:pPr>
              <a:lnSpc>
                <a:spcPct val="105000"/>
              </a:lnSpc>
              <a:spcBef>
                <a:spcPts val="500"/>
              </a:spcBef>
            </a:pPr>
            <a:r>
              <a:rPr sz="900" b="0" i="0">
                <a:solidFill>
                  <a:srgbClr val="52586A"/>
                </a:solidFill>
                <a:latin typeface="Arial"/>
              </a:rPr>
              <a:t>Build: code, prompts, RAG,</a:t>
            </a:r>
          </a:p>
          <a:p>
            <a:pPr>
              <a:lnSpc>
                <a:spcPct val="105000"/>
              </a:lnSpc>
            </a:pPr>
            <a:r>
              <a:rPr sz="900" b="0" i="0">
                <a:solidFill>
                  <a:srgbClr val="52586A"/>
                </a:solidFill>
                <a:latin typeface="Arial"/>
              </a:rPr>
              <a:t>integrations (largest effort)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600" y="3108960"/>
            <a:ext cx="25603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68312" y="3054096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9AA0B4"/>
                </a:solidFill>
                <a:latin typeface="Arial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2514600"/>
            <a:ext cx="199339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2225">
            <a:solidFill>
              <a:srgbClr val="00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0920" y="2514600"/>
            <a:ext cx="1993392" cy="64008"/>
          </a:xfrm>
          <a:prstGeom prst="rect">
            <a:avLst/>
          </a:prstGeom>
          <a:solidFill>
            <a:srgbClr val="00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0" y="2697480"/>
            <a:ext cx="171907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spc="120">
                <a:solidFill>
                  <a:srgbClr val="006B6B"/>
                </a:solidFill>
                <a:latin typeface="Arial"/>
              </a:rPr>
              <a:t>PHASE 3</a:t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1A1C22"/>
                </a:solidFill>
                <a:latin typeface="Georgia"/>
              </a:rPr>
              <a:t>Run</a:t>
            </a:r>
          </a:p>
          <a:p>
            <a:pPr>
              <a:lnSpc>
                <a:spcPct val="105000"/>
              </a:lnSpc>
              <a:spcBef>
                <a:spcPts val="500"/>
              </a:spcBef>
            </a:pPr>
            <a:r>
              <a:rPr sz="900" b="0" i="0">
                <a:solidFill>
                  <a:srgbClr val="52586A"/>
                </a:solidFill>
                <a:latin typeface="Arial"/>
              </a:rPr>
              <a:t>Deploy to the target</a:t>
            </a:r>
          </a:p>
          <a:p>
            <a:pPr>
              <a:lnSpc>
                <a:spcPct val="105000"/>
              </a:lnSpc>
            </a:pPr>
            <a:r>
              <a:rPr sz="900" b="0" i="0">
                <a:solidFill>
                  <a:srgbClr val="52586A"/>
                </a:solidFill>
                <a:latin typeface="Arial"/>
              </a:rPr>
              <a:t>environment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3108960"/>
            <a:ext cx="25603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54312" y="3054096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9AA0B4"/>
                </a:solidFill>
                <a:latin typeface="Arial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46920" y="2514600"/>
            <a:ext cx="199339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2225">
            <a:solidFill>
              <a:srgbClr val="7B4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46920" y="2514600"/>
            <a:ext cx="1993392" cy="64008"/>
          </a:xfrm>
          <a:prstGeom prst="rect">
            <a:avLst/>
          </a:prstGeom>
          <a:solidFill>
            <a:srgbClr val="7B4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2697480"/>
            <a:ext cx="171907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spc="120">
                <a:solidFill>
                  <a:srgbClr val="7B4F00"/>
                </a:solidFill>
                <a:latin typeface="Arial"/>
              </a:rPr>
              <a:t>GATE</a:t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1A1C22"/>
                </a:solidFill>
                <a:latin typeface="Georgia"/>
              </a:rPr>
              <a:t>Evaluate</a:t>
            </a:r>
          </a:p>
          <a:p>
            <a:pPr>
              <a:lnSpc>
                <a:spcPct val="105000"/>
              </a:lnSpc>
              <a:spcBef>
                <a:spcPts val="500"/>
              </a:spcBef>
            </a:pPr>
            <a:r>
              <a:rPr sz="900" b="0" i="0">
                <a:solidFill>
                  <a:srgbClr val="52586A"/>
                </a:solidFill>
                <a:latin typeface="Arial"/>
              </a:rPr>
              <a:t>Test against the eval set:</a:t>
            </a:r>
          </a:p>
          <a:p>
            <a:pPr>
              <a:lnSpc>
                <a:spcPct val="105000"/>
              </a:lnSpc>
            </a:pPr>
            <a:r>
              <a:rPr sz="900" b="0" i="0">
                <a:solidFill>
                  <a:srgbClr val="52586A"/>
                </a:solidFill>
                <a:latin typeface="Arial"/>
              </a:rPr>
              <a:t>pass = done, fail = iterate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71616" y="4270248"/>
            <a:ext cx="4572000" cy="20320"/>
          </a:xfrm>
          <a:prstGeom prst="rect">
            <a:avLst/>
          </a:prstGeom>
          <a:solidFill>
            <a:srgbClr val="7B4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71616" y="3886200"/>
            <a:ext cx="20320" cy="384047"/>
          </a:xfrm>
          <a:prstGeom prst="rect">
            <a:avLst/>
          </a:prstGeom>
          <a:solidFill>
            <a:srgbClr val="7B4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643616" y="3886200"/>
            <a:ext cx="20320" cy="384047"/>
          </a:xfrm>
          <a:prstGeom prst="rect">
            <a:avLst/>
          </a:prstGeom>
          <a:solidFill>
            <a:srgbClr val="7B4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63055" y="4306824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 spc="50">
                <a:solidFill>
                  <a:srgbClr val="7B4F00"/>
                </a:solidFill>
                <a:latin typeface="Arial"/>
              </a:rPr>
              <a:t>fail  →  back to Write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486400"/>
            <a:ext cx="11183112" cy="713232"/>
          </a:xfrm>
          <a:prstGeom prst="roundRect">
            <a:avLst>
              <a:gd name="adj" fmla="val 12000"/>
            </a:avLst>
          </a:prstGeom>
          <a:solidFill>
            <a:srgbClr val="E6F4EC"/>
          </a:solidFill>
          <a:ln w="12700">
            <a:solidFill>
              <a:srgbClr val="1A5E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5486400"/>
            <a:ext cx="64008" cy="713232"/>
          </a:xfrm>
          <a:prstGeom prst="rect">
            <a:avLst/>
          </a:prstGeom>
          <a:solidFill>
            <a:srgbClr val="1A5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486400"/>
            <a:ext cx="10607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133D25"/>
                </a:solidFill>
                <a:latin typeface="Arial"/>
              </a:rPr>
              <a:t>The eval set is drafted in Think, before a line of code. </a:t>
            </a:r>
            <a:r>
              <a:rPr sz="1150" b="0" i="0">
                <a:solidFill>
                  <a:srgbClr val="133D25"/>
                </a:solidFill>
                <a:latin typeface="Arial"/>
              </a:rPr>
              <a:t>It defines what “done” means — without it there is no principled stopping condition.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220">
                <a:solidFill>
                  <a:srgbClr val="0070C0"/>
                </a:solidFill>
                <a:latin typeface="Arial"/>
              </a:rPr>
              <a:t>BUILDING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300" b="0" i="0">
                <a:solidFill>
                  <a:srgbClr val="1A1C22"/>
                </a:solidFill>
                <a:latin typeface="Georgia"/>
              </a:rPr>
              <a:t>Products &amp; solutions </a:t>
            </a:r>
            <a:r>
              <a:rPr sz="3300" b="0" i="0">
                <a:solidFill>
                  <a:srgbClr val="0070C0"/>
                </a:solidFill>
                <a:latin typeface="Georgia"/>
              </a:rPr>
              <a:t>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572768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52586A"/>
                </a:solidFill>
                <a:latin typeface="Arial"/>
              </a:rPr>
              <a:t>What this looks like in practice — built hands-on during the research project.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E0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 spc="80">
                <a:solidFill>
                  <a:srgbClr val="8A93A8"/>
                </a:solidFill>
                <a:latin typeface="Arial"/>
              </a:rPr>
              <a:t>AI Implementation Strategy  ·  Systems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80">
                <a:solidFill>
                  <a:srgbClr val="8A93A8"/>
                </a:solidFill>
                <a:latin typeface="Arial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7744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77440"/>
            <a:ext cx="3611880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560320"/>
            <a:ext cx="3300984" cy="1380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spc="140">
                <a:solidFill>
                  <a:srgbClr val="0070C0"/>
                </a:solidFill>
                <a:latin typeface="Arial"/>
              </a:rPr>
              <a:t>FINANCE</a:t>
            </a:r>
          </a:p>
          <a:p>
            <a:pPr>
              <a:spcBef>
                <a:spcPts val="300"/>
              </a:spcBef>
            </a:pPr>
            <a:r>
              <a:rPr sz="1300" b="1" i="0">
                <a:solidFill>
                  <a:srgbClr val="1A1C22"/>
                </a:solidFill>
                <a:latin typeface="Arial"/>
              </a:rPr>
              <a:t>Best-in-class financial models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 i="0">
                <a:solidFill>
                  <a:srgbClr val="52586A"/>
                </a:solidFill>
                <a:latin typeface="Arial"/>
              </a:rPr>
              <a:t>Built in Excel; assumptions can be queried and challenged directly in the sheet.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237744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88536" y="2377440"/>
            <a:ext cx="3611880" cy="5486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2560320"/>
            <a:ext cx="3300984" cy="1380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spc="140">
                <a:solidFill>
                  <a:srgbClr val="002060"/>
                </a:solidFill>
                <a:latin typeface="Arial"/>
              </a:rPr>
              <a:t>MULTIMODAL</a:t>
            </a:r>
          </a:p>
          <a:p>
            <a:pPr>
              <a:spcBef>
                <a:spcPts val="300"/>
              </a:spcBef>
            </a:pPr>
            <a:r>
              <a:rPr sz="1300" b="1" i="0">
                <a:solidFill>
                  <a:srgbClr val="1A1C22"/>
                </a:solidFill>
                <a:latin typeface="Arial"/>
              </a:rPr>
              <a:t>Data transformations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 i="0">
                <a:solidFill>
                  <a:srgbClr val="52586A"/>
                </a:solidFill>
                <a:latin typeface="Arial"/>
              </a:rPr>
              <a:t>Across text, speech and video — converting between formats and modalities.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4152" y="237744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4152" y="2377440"/>
            <a:ext cx="3611880" cy="54864"/>
          </a:xfrm>
          <a:prstGeom prst="rect">
            <a:avLst/>
          </a:prstGeom>
          <a:solidFill>
            <a:srgbClr val="00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2560320"/>
            <a:ext cx="3300984" cy="1380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spc="140">
                <a:solidFill>
                  <a:srgbClr val="006B6B"/>
                </a:solidFill>
                <a:latin typeface="Arial"/>
              </a:rPr>
              <a:t>RAG</a:t>
            </a:r>
          </a:p>
          <a:p>
            <a:pPr>
              <a:spcBef>
                <a:spcPts val="300"/>
              </a:spcBef>
            </a:pPr>
            <a:r>
              <a:rPr sz="1300" b="1" i="0">
                <a:solidFill>
                  <a:srgbClr val="1A1C22"/>
                </a:solidFill>
                <a:latin typeface="Arial"/>
              </a:rPr>
              <a:t>Local-LLM document RAG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 i="0">
                <a:solidFill>
                  <a:srgbClr val="52586A"/>
                </a:solidFill>
                <a:latin typeface="Arial"/>
              </a:rPr>
              <a:t>Working retrieval on a local LLM — answers with sources, zero compute cost, zero data egress.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6052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160520"/>
            <a:ext cx="3611880" cy="54864"/>
          </a:xfrm>
          <a:prstGeom prst="rect">
            <a:avLst/>
          </a:prstGeom>
          <a:solidFill>
            <a:srgbClr val="1A5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4343400"/>
            <a:ext cx="3300984" cy="1380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spc="140">
                <a:solidFill>
                  <a:srgbClr val="1A5E38"/>
                </a:solidFill>
                <a:latin typeface="Arial"/>
              </a:rPr>
              <a:t>AGENTS</a:t>
            </a:r>
          </a:p>
          <a:p>
            <a:pPr>
              <a:spcBef>
                <a:spcPts val="300"/>
              </a:spcBef>
            </a:pPr>
            <a:r>
              <a:rPr sz="1300" b="1" i="0">
                <a:solidFill>
                  <a:srgbClr val="1A1C22"/>
                </a:solidFill>
                <a:latin typeface="Arial"/>
              </a:rPr>
              <a:t>Autonomous agents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 i="0">
                <a:solidFill>
                  <a:srgbClr val="52586A"/>
                </a:solidFill>
                <a:latin typeface="Arial"/>
              </a:rPr>
              <a:t>Multi-step agents that research, draft and prepare work under human review.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416052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88536" y="4160520"/>
            <a:ext cx="3611880" cy="54864"/>
          </a:xfrm>
          <a:prstGeom prst="rect">
            <a:avLst/>
          </a:prstGeom>
          <a:solidFill>
            <a:srgbClr val="7B4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53128" y="4343400"/>
            <a:ext cx="3300984" cy="1380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spc="140">
                <a:solidFill>
                  <a:srgbClr val="7B4F00"/>
                </a:solidFill>
                <a:latin typeface="Arial"/>
              </a:rPr>
              <a:t>APPS</a:t>
            </a:r>
          </a:p>
          <a:p>
            <a:pPr>
              <a:spcBef>
                <a:spcPts val="300"/>
              </a:spcBef>
            </a:pPr>
            <a:r>
              <a:rPr sz="1300" b="1" i="0">
                <a:solidFill>
                  <a:srgbClr val="1A1C22"/>
                </a:solidFill>
                <a:latin typeface="Arial"/>
              </a:rPr>
              <a:t>Hyper-customized applications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 i="0">
                <a:solidFill>
                  <a:srgbClr val="52586A"/>
                </a:solidFill>
                <a:latin typeface="Arial"/>
              </a:rPr>
              <a:t>Bespoke tools that scrape and structure data from aggregators.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4152" y="416052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1A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4343400"/>
            <a:ext cx="3246120" cy="1380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50" b="1" i="0" spc="140">
                <a:solidFill>
                  <a:srgbClr val="0070C0"/>
                </a:solidFill>
                <a:latin typeface="Arial"/>
              </a:rPr>
              <a:t>COMMON THREAD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Arial"/>
              </a:rPr>
              <a:t>Each was built by one person with domain expertise — not a development team.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31720"/>
            <a:ext cx="457200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74519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220">
                <a:solidFill>
                  <a:srgbClr val="0070C0"/>
                </a:solidFill>
                <a:latin typeface="Arial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600" b="0" i="0">
                <a:solidFill>
                  <a:srgbClr val="FFFFFF"/>
                </a:solidFill>
                <a:latin typeface="Georgia"/>
              </a:rPr>
              <a:t>More on </a:t>
            </a:r>
            <a:r>
              <a:rPr sz="4600" b="0" i="0">
                <a:solidFill>
                  <a:srgbClr val="0070C0"/>
                </a:solidFill>
                <a:latin typeface="Georgia"/>
              </a:rPr>
              <a:t>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3977639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8A93A8"/>
                </a:solidFill>
                <a:latin typeface="Arial"/>
              </a:rPr>
              <a:t>Gemini · NotebookLM · Notion · Claude in Excel &amp; PowerPoint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80">
                <a:solidFill>
                  <a:srgbClr val="4A5270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220">
                <a:solidFill>
                  <a:srgbClr val="0070C0"/>
                </a:solidFill>
                <a:latin typeface="Arial"/>
              </a:rPr>
              <a:t>MORE ON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300" b="0" i="0">
                <a:solidFill>
                  <a:srgbClr val="1A1C22"/>
                </a:solidFill>
                <a:latin typeface="Georgia"/>
              </a:rPr>
              <a:t>Claude in </a:t>
            </a:r>
            <a:r>
              <a:rPr sz="3300" b="0" i="0">
                <a:solidFill>
                  <a:srgbClr val="0070C0"/>
                </a:solidFill>
                <a:latin typeface="Georgia"/>
              </a:rPr>
              <a:t>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572768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52586A"/>
                </a:solidFill>
                <a:latin typeface="Arial"/>
              </a:rPr>
              <a:t>Financial — or any — models in Excel, at best-in-class quality. Query and challenge the assumptions directly in the sheet.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E0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 spc="80">
                <a:solidFill>
                  <a:srgbClr val="8A93A8"/>
                </a:solidFill>
                <a:latin typeface="Arial"/>
              </a:rPr>
              <a:t>AI Implementation Strategy  ·  Systems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80">
                <a:solidFill>
                  <a:srgbClr val="8A93A8"/>
                </a:solidFill>
                <a:latin typeface="Arial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31720"/>
            <a:ext cx="11155680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31720"/>
            <a:ext cx="64008" cy="768096"/>
          </a:xfrm>
          <a:prstGeom prst="rect">
            <a:avLst/>
          </a:prstGeom>
          <a:solidFill>
            <a:srgbClr val="1A5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331720"/>
            <a:ext cx="106984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 b="1" i="0">
                <a:solidFill>
                  <a:srgbClr val="1A1C22"/>
                </a:solidFill>
                <a:latin typeface="Arial"/>
              </a:rPr>
              <a:t>Generate standardized models</a:t>
            </a:r>
            <a:r>
              <a:rPr sz="1200" b="1" i="0">
                <a:solidFill>
                  <a:srgbClr val="1A5E38"/>
                </a:solidFill>
                <a:latin typeface="Arial"/>
              </a:rPr>
              <a:t>  —  </a:t>
            </a:r>
            <a:r>
              <a:rPr sz="1100" b="0" i="0">
                <a:solidFill>
                  <a:srgbClr val="52586A"/>
                </a:solidFill>
                <a:latin typeface="Arial"/>
              </a:rPr>
              <a:t>Requirements matrices, risk registers, WBS, budget trackers — described in plain English, built in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18688"/>
            <a:ext cx="11155680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218688"/>
            <a:ext cx="64008" cy="768096"/>
          </a:xfrm>
          <a:prstGeom prst="rect">
            <a:avLst/>
          </a:prstGeom>
          <a:solidFill>
            <a:srgbClr val="1A5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218688"/>
            <a:ext cx="106984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 b="1" i="0">
                <a:solidFill>
                  <a:srgbClr val="1A1C22"/>
                </a:solidFill>
                <a:latin typeface="Arial"/>
              </a:rPr>
              <a:t>Live logical &amp; quality checks</a:t>
            </a:r>
            <a:r>
              <a:rPr sz="1200" b="1" i="0">
                <a:solidFill>
                  <a:srgbClr val="1A5E38"/>
                </a:solidFill>
                <a:latin typeface="Arial"/>
              </a:rPr>
              <a:t>  —  </a:t>
            </a:r>
            <a:r>
              <a:rPr sz="1100" b="0" i="0">
                <a:solidFill>
                  <a:srgbClr val="52586A"/>
                </a:solidFill>
                <a:latin typeface="Arial"/>
              </a:rPr>
              <a:t>Claude reads every row and flags inconsistencies — risk scores that don't match, mitigations closed with high residual risk, broken totals.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05656"/>
            <a:ext cx="11155680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105656"/>
            <a:ext cx="64008" cy="768096"/>
          </a:xfrm>
          <a:prstGeom prst="rect">
            <a:avLst/>
          </a:prstGeom>
          <a:solidFill>
            <a:srgbClr val="1A5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105656"/>
            <a:ext cx="106984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 b="1" i="0">
                <a:solidFill>
                  <a:srgbClr val="1A1C22"/>
                </a:solidFill>
                <a:latin typeface="Arial"/>
              </a:rPr>
              <a:t>Query and challenge assumptions</a:t>
            </a:r>
            <a:r>
              <a:rPr sz="1200" b="1" i="0">
                <a:solidFill>
                  <a:srgbClr val="1A5E38"/>
                </a:solidFill>
                <a:latin typeface="Arial"/>
              </a:rPr>
              <a:t>  —  </a:t>
            </a:r>
            <a:r>
              <a:rPr sz="1100" b="0" i="0">
                <a:solidFill>
                  <a:srgbClr val="52586A"/>
                </a:solidFill>
                <a:latin typeface="Arial"/>
              </a:rPr>
              <a:t>Interrogate the model in place: “which assumptions drive this result, and where are they weakest?”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992624"/>
            <a:ext cx="11155680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992624"/>
            <a:ext cx="64008" cy="768096"/>
          </a:xfrm>
          <a:prstGeom prst="rect">
            <a:avLst/>
          </a:prstGeom>
          <a:solidFill>
            <a:srgbClr val="1A5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4992624"/>
            <a:ext cx="106984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 b="1" i="0">
                <a:solidFill>
                  <a:srgbClr val="1A1C22"/>
                </a:solidFill>
                <a:latin typeface="Arial"/>
              </a:rPr>
              <a:t>Reformat without data loss</a:t>
            </a:r>
            <a:r>
              <a:rPr sz="1200" b="1" i="0">
                <a:solidFill>
                  <a:srgbClr val="1A5E38"/>
                </a:solidFill>
                <a:latin typeface="Arial"/>
              </a:rPr>
              <a:t>  —  </a:t>
            </a:r>
            <a:r>
              <a:rPr sz="1100" b="0" i="0">
                <a:solidFill>
                  <a:srgbClr val="52586A"/>
                </a:solidFill>
                <a:latin typeface="Arial"/>
              </a:rPr>
              <a:t>Restructure to a new standard or client template, with a backup of the original — no copy-paste between files.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31720"/>
            <a:ext cx="457200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74519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220">
                <a:solidFill>
                  <a:srgbClr val="0070C0"/>
                </a:solidFill>
                <a:latin typeface="Arial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600" b="0" i="0">
                <a:solidFill>
                  <a:srgbClr val="FFFFFF"/>
                </a:solidFill>
                <a:latin typeface="Georgia"/>
              </a:rPr>
              <a:t>The </a:t>
            </a:r>
            <a:r>
              <a:rPr sz="4600" b="0" i="0">
                <a:solidFill>
                  <a:srgbClr val="0070C0"/>
                </a:solidFill>
                <a:latin typeface="Georgia"/>
              </a:rPr>
              <a:t>Research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3977639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8A93A8"/>
                </a:solidFill>
                <a:latin typeface="Arial"/>
              </a:rPr>
              <a:t>Strategic analysis · experimentation in Claude · product-architecture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80">
                <a:solidFill>
                  <a:srgbClr val="4A5270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220">
                <a:solidFill>
                  <a:srgbClr val="0070C0"/>
                </a:solidFill>
                <a:latin typeface="Arial"/>
              </a:rPr>
              <a:t>THE RESEARCH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300" b="0" i="0">
                <a:solidFill>
                  <a:srgbClr val="1A1C22"/>
                </a:solidFill>
                <a:latin typeface="Georgia"/>
              </a:rPr>
              <a:t>Project </a:t>
            </a:r>
            <a:r>
              <a:rPr sz="3300" b="0" i="0">
                <a:solidFill>
                  <a:srgbClr val="0070C0"/>
                </a:solidFill>
                <a:latin typeface="Georgia"/>
              </a:rPr>
              <a:t>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572768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52586A"/>
                </a:solidFill>
                <a:latin typeface="Arial"/>
              </a:rPr>
              <a:t>From perspectives and state-of-the-art to building and positioning knowledge areas.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9525"/>
          </a:xfrm>
          <a:prstGeom prst="rect">
            <a:avLst/>
          </a:prstGeom>
          <a:solidFill>
            <a:srgbClr val="E0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 spc="80">
                <a:solidFill>
                  <a:srgbClr val="8A93A8"/>
                </a:solidFill>
                <a:latin typeface="Arial"/>
              </a:rPr>
              <a:t>AI Implementation Strategy  ·  Systems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80">
                <a:solidFill>
                  <a:srgbClr val="8A93A8"/>
                </a:solidFill>
                <a:latin typeface="Arial"/>
              </a:rP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977639"/>
            <a:ext cx="10698480" cy="17780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8" y="3922776"/>
            <a:ext cx="17780" cy="109728"/>
          </a:xfrm>
          <a:prstGeom prst="rect">
            <a:avLst/>
          </a:prstGeom>
          <a:solidFill>
            <a:srgbClr val="525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4087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 spc="50">
                <a:solidFill>
                  <a:srgbClr val="52586A"/>
                </a:solidFill>
                <a:latin typeface="Arial"/>
              </a:rPr>
              <a:t>Jan '26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58084" y="3922776"/>
            <a:ext cx="17780" cy="109728"/>
          </a:xfrm>
          <a:prstGeom prst="rect">
            <a:avLst/>
          </a:prstGeom>
          <a:solidFill>
            <a:srgbClr val="525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05456" y="4087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 spc="50">
                <a:solidFill>
                  <a:srgbClr val="52586A"/>
                </a:solidFill>
                <a:latin typeface="Arial"/>
              </a:rPr>
              <a:t>Feb '26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97780" y="3922776"/>
            <a:ext cx="17780" cy="109728"/>
          </a:xfrm>
          <a:prstGeom prst="rect">
            <a:avLst/>
          </a:prstGeom>
          <a:solidFill>
            <a:srgbClr val="525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4087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 spc="50">
                <a:solidFill>
                  <a:srgbClr val="52586A"/>
                </a:solidFill>
                <a:latin typeface="Arial"/>
              </a:rPr>
              <a:t>Mar '26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37476" y="3922776"/>
            <a:ext cx="17780" cy="109728"/>
          </a:xfrm>
          <a:prstGeom prst="rect">
            <a:avLst/>
          </a:prstGeom>
          <a:solidFill>
            <a:srgbClr val="525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84848" y="4087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 spc="50">
                <a:solidFill>
                  <a:srgbClr val="52586A"/>
                </a:solidFill>
                <a:latin typeface="Arial"/>
              </a:rPr>
              <a:t>Apr '26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77172" y="3922776"/>
            <a:ext cx="17780" cy="109728"/>
          </a:xfrm>
          <a:prstGeom prst="rect">
            <a:avLst/>
          </a:prstGeom>
          <a:solidFill>
            <a:srgbClr val="525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24544" y="4087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 spc="50">
                <a:solidFill>
                  <a:srgbClr val="52586A"/>
                </a:solidFill>
                <a:latin typeface="Arial"/>
              </a:rPr>
              <a:t>May '26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516867" y="3922776"/>
            <a:ext cx="17780" cy="109728"/>
          </a:xfrm>
          <a:prstGeom prst="rect">
            <a:avLst/>
          </a:prstGeom>
          <a:solidFill>
            <a:srgbClr val="525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64240" y="4087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 spc="50">
                <a:solidFill>
                  <a:srgbClr val="52586A"/>
                </a:solidFill>
                <a:latin typeface="Arial"/>
              </a:rPr>
              <a:t>Jun '26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063240"/>
            <a:ext cx="4279392" cy="566928"/>
          </a:xfrm>
          <a:prstGeom prst="roundRect">
            <a:avLst>
              <a:gd name="adj" fmla="val 2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063240"/>
            <a:ext cx="40050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Phase 1  ·  Perspectives, state of the art, tool exploration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42048" y="4325112"/>
            <a:ext cx="4279392" cy="566928"/>
          </a:xfrm>
          <a:prstGeom prst="roundRect">
            <a:avLst>
              <a:gd name="adj" fmla="val 25000"/>
            </a:avLst>
          </a:prstGeom>
          <a:solidFill>
            <a:srgbClr val="00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9208" y="4325112"/>
            <a:ext cx="40050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Phase 2  ·  1. Building   2. Positioning knowledge areas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512296" y="2788920"/>
            <a:ext cx="20320" cy="11887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25146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 spc="150">
                <a:solidFill>
                  <a:srgbClr val="8B1A1A"/>
                </a:solidFill>
                <a:latin typeface="Arial"/>
              </a:rPr>
              <a:t>WE ARE HERE  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212080"/>
            <a:ext cx="26700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212080"/>
            <a:ext cx="2670048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5394960"/>
            <a:ext cx="2359152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spc="140">
                <a:solidFill>
                  <a:srgbClr val="0070C0"/>
                </a:solidFill>
                <a:latin typeface="Arial"/>
              </a:rPr>
              <a:t>JAN–MAR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 i="0">
                <a:solidFill>
                  <a:srgbClr val="52586A"/>
                </a:solidFill>
                <a:latin typeface="Arial"/>
              </a:rPr>
              <a:t>Strategic analysis &amp; preliminary views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37560" y="5212080"/>
            <a:ext cx="26700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37560" y="5212080"/>
            <a:ext cx="2670048" cy="5486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02152" y="5394960"/>
            <a:ext cx="2359152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spc="140">
                <a:solidFill>
                  <a:srgbClr val="002060"/>
                </a:solidFill>
                <a:latin typeface="Arial"/>
              </a:rPr>
              <a:t>MAR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 i="0">
                <a:solidFill>
                  <a:srgbClr val="52586A"/>
                </a:solidFill>
                <a:latin typeface="Arial"/>
              </a:rPr>
              <a:t>State of the art + tool exploration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5212080"/>
            <a:ext cx="26700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5212080"/>
            <a:ext cx="2670048" cy="54864"/>
          </a:xfrm>
          <a:prstGeom prst="rect">
            <a:avLst/>
          </a:prstGeom>
          <a:solidFill>
            <a:srgbClr val="00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5394960"/>
            <a:ext cx="2359152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spc="140">
                <a:solidFill>
                  <a:srgbClr val="006B6B"/>
                </a:solidFill>
                <a:latin typeface="Arial"/>
              </a:rPr>
              <a:t>APR–JUN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 i="0">
                <a:solidFill>
                  <a:srgbClr val="52586A"/>
                </a:solidFill>
                <a:latin typeface="Arial"/>
              </a:rPr>
              <a:t>Two apps shipped + playbook &amp; report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6840" y="5212080"/>
            <a:ext cx="26700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06840" y="5212080"/>
            <a:ext cx="2670048" cy="54864"/>
          </a:xfrm>
          <a:prstGeom prst="rect">
            <a:avLst/>
          </a:prstGeom>
          <a:solidFill>
            <a:srgbClr val="1A5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71432" y="5394960"/>
            <a:ext cx="2359152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spc="140">
                <a:solidFill>
                  <a:srgbClr val="1A5E38"/>
                </a:solidFill>
                <a:latin typeface="Arial"/>
              </a:rPr>
              <a:t>JUN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 i="0">
                <a:solidFill>
                  <a:srgbClr val="52586A"/>
                </a:solidFill>
                <a:latin typeface="Arial"/>
              </a:rPr>
              <a:t>Knowledge areas positioned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