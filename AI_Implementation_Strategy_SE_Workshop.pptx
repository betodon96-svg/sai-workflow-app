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 spc="220">
                <a:solidFill>
                  <a:srgbClr val="0070C0"/>
                </a:solidFill>
                <a:latin typeface="Arial"/>
              </a:rPr>
              <a:t>CAPGEMINI ENGINEERING  .  SYSTEMS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4241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</a:pPr>
            <a:r>
              <a:rPr sz="5200" b="0" i="0">
                <a:solidFill>
                  <a:srgbClr val="FFFFFF"/>
                </a:solidFill>
                <a:latin typeface="Georgia"/>
              </a:rPr>
              <a:t>AI Implementation Strategy</a:t>
            </a:r>
          </a:p>
          <a:p>
            <a:pPr>
              <a:lnSpc>
                <a:spcPct val="104000"/>
              </a:lnSpc>
            </a:pPr>
            <a:r>
              <a:rPr sz="5200" b="0" i="0">
                <a:solidFill>
                  <a:srgbClr val="FFFFFF"/>
                </a:solidFill>
                <a:latin typeface="Georgia"/>
              </a:rPr>
              <a:t>for </a:t>
            </a:r>
            <a:r>
              <a:rPr sz="5200" b="0" i="1">
                <a:solidFill>
                  <a:srgbClr val="0070C0"/>
                </a:solidFill>
                <a:latin typeface="Georgia"/>
              </a:rPr>
              <a:t>Systems Engineering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343400"/>
            <a:ext cx="2926080" cy="15240"/>
          </a:xfrm>
          <a:prstGeom prst="rect">
            <a:avLst/>
          </a:prstGeom>
          <a:solidFill>
            <a:srgbClr val="2A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52628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700" b="1" i="0">
                <a:solidFill>
                  <a:srgbClr val="EEF2FA"/>
                </a:solidFill>
                <a:latin typeface="Arial"/>
              </a:rPr>
              <a:t>Alberto Donoso</a:t>
            </a:r>
          </a:p>
          <a:p>
            <a:pPr>
              <a:spcBef>
                <a:spcPts val="300"/>
              </a:spcBef>
            </a:pPr>
            <a:r>
              <a:rPr sz="1250" b="0" i="0">
                <a:solidFill>
                  <a:srgbClr val="8A93A8"/>
                </a:solidFill>
                <a:latin typeface="Arial"/>
              </a:rPr>
              <a:t>Findings, perspectives, and experience as a user and builder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126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 spc="150">
                <a:solidFill>
                  <a:srgbClr val="4A5270"/>
                </a:solidFill>
                <a:latin typeface="Arial"/>
              </a:rPr>
              <a:t>WORKSHOP  .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 spc="220">
                <a:solidFill>
                  <a:srgbClr val="0070C0"/>
                </a:solidFill>
                <a:latin typeface="Arial"/>
              </a:rPr>
              <a:t>FINDINGS  .  BOTTOM LINE UP FRONT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300" b="0" i="0">
                <a:solidFill>
                  <a:srgbClr val="1A1C22"/>
                </a:solidFill>
                <a:latin typeface="Georgia"/>
              </a:rPr>
              <a:t>What I </a:t>
            </a:r>
            <a:r>
              <a:rPr sz="3300" b="0" i="0">
                <a:solidFill>
                  <a:srgbClr val="0070C0"/>
                </a:solidFill>
                <a:latin typeface="Georgia"/>
              </a:rPr>
              <a:t>found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572768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52586A"/>
                </a:solidFill>
                <a:latin typeface="Arial"/>
              </a:rPr>
              <a:t>The conclusions first -- the rest of this deck is the argument and the evidence behind them.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55664"/>
            <a:ext cx="11183112" cy="9525"/>
          </a:xfrm>
          <a:prstGeom prst="rect">
            <a:avLst/>
          </a:prstGeom>
          <a:solidFill>
            <a:srgbClr val="E0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0" i="0" spc="80">
                <a:solidFill>
                  <a:srgbClr val="8A93A8"/>
                </a:solidFill>
                <a:latin typeface="Arial"/>
              </a:rPr>
              <a:t>AI Implementation Strategy  .  Systems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510528"/>
            <a:ext cx="896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 spc="80">
                <a:solidFill>
                  <a:srgbClr val="8A93A8"/>
                </a:solidFill>
                <a:latin typeface="Arial"/>
              </a:rPr>
              <a:t>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40280"/>
            <a:ext cx="1115568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40280"/>
            <a:ext cx="64008" cy="658368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2240280"/>
            <a:ext cx="106984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1" i="0">
                <a:solidFill>
                  <a:srgbClr val="1A1C22"/>
                </a:solidFill>
                <a:latin typeface="Arial"/>
              </a:rPr>
              <a:t>Claude is a platform, not an app</a:t>
            </a:r>
            <a:r>
              <a:rPr sz="1250" b="1" i="0">
                <a:solidFill>
                  <a:srgbClr val="0070C0"/>
                </a:solidFill>
                <a:latin typeface="Arial"/>
              </a:rPr>
              <a:t>  --  </a:t>
            </a:r>
            <a:r>
              <a:rPr sz="1200" b="0" i="0">
                <a:solidFill>
                  <a:srgbClr val="52586A"/>
                </a:solidFill>
                <a:latin typeface="Arial"/>
              </a:rPr>
              <a:t>It is an environment for building AI products -- and those products may or may not contain AI themselves. Using chat is just the start.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999232"/>
            <a:ext cx="1115568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999232"/>
            <a:ext cx="64008" cy="658368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2999232"/>
            <a:ext cx="106984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1" i="0">
                <a:solidFill>
                  <a:srgbClr val="1A1C22"/>
                </a:solidFill>
                <a:latin typeface="Arial"/>
              </a:rPr>
              <a:t>Know the AI value chain</a:t>
            </a:r>
            <a:r>
              <a:rPr sz="1250" b="1" i="0">
                <a:solidFill>
                  <a:srgbClr val="0070C0"/>
                </a:solidFill>
                <a:latin typeface="Arial"/>
              </a:rPr>
              <a:t>  --  </a:t>
            </a:r>
            <a:r>
              <a:rPr sz="1200" b="0" i="0">
                <a:solidFill>
                  <a:srgbClr val="52586A"/>
                </a:solidFill>
                <a:latin typeface="Arial"/>
              </a:rPr>
              <a:t>From applications down to the LMMs and the underlying infrastructure. Where you sit determines where value is captured.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758184"/>
            <a:ext cx="1115568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3758184"/>
            <a:ext cx="64008" cy="658368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3758184"/>
            <a:ext cx="106984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1" i="0">
                <a:solidFill>
                  <a:srgbClr val="1A1C22"/>
                </a:solidFill>
                <a:latin typeface="Arial"/>
              </a:rPr>
              <a:t>This transformation is different</a:t>
            </a:r>
            <a:r>
              <a:rPr sz="1250" b="1" i="0">
                <a:solidFill>
                  <a:srgbClr val="0070C0"/>
                </a:solidFill>
                <a:latin typeface="Arial"/>
              </a:rPr>
              <a:t>  --  </a:t>
            </a:r>
            <a:r>
              <a:rPr sz="1200" b="0" i="0">
                <a:solidFill>
                  <a:srgbClr val="52586A"/>
                </a:solidFill>
                <a:latin typeface="Arial"/>
              </a:rPr>
              <a:t>The cost and feasibility of building and operating has collapsed, and knowledge is being democratized. That is what sets it apart from previous digital shifts.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517136"/>
            <a:ext cx="1115568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4517136"/>
            <a:ext cx="64008" cy="658368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952" y="4517136"/>
            <a:ext cx="106984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1" i="0">
                <a:solidFill>
                  <a:srgbClr val="1A1C22"/>
                </a:solidFill>
                <a:latin typeface="Arial"/>
              </a:rPr>
              <a:t>SaaS is changing, not disappearing</a:t>
            </a:r>
            <a:r>
              <a:rPr sz="1250" b="1" i="0">
                <a:solidFill>
                  <a:srgbClr val="0070C0"/>
                </a:solidFill>
                <a:latin typeface="Arial"/>
              </a:rPr>
              <a:t>  --  </a:t>
            </a:r>
            <a:r>
              <a:rPr sz="1200" b="0" i="0">
                <a:solidFill>
                  <a:srgbClr val="52586A"/>
                </a:solidFill>
                <a:latin typeface="Arial"/>
              </a:rPr>
              <a:t>AI economics are reshaping the model -- not erasing it.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276088"/>
            <a:ext cx="1115568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5276088"/>
            <a:ext cx="64008" cy="658368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" y="5276088"/>
            <a:ext cx="106984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1" i="0">
                <a:solidFill>
                  <a:srgbClr val="1A1C22"/>
                </a:solidFill>
                <a:latin typeface="Arial"/>
              </a:rPr>
              <a:t>Value is in new capability, not just efficiency</a:t>
            </a:r>
            <a:r>
              <a:rPr sz="1250" b="1" i="0">
                <a:solidFill>
                  <a:srgbClr val="0070C0"/>
                </a:solidFill>
                <a:latin typeface="Arial"/>
              </a:rPr>
              <a:t>  --  </a:t>
            </a:r>
            <a:r>
              <a:rPr sz="1200" b="0" i="0">
                <a:solidFill>
                  <a:srgbClr val="52586A"/>
                </a:solidFill>
                <a:latin typeface="Arial"/>
              </a:rPr>
              <a:t>Efficiency is one gain. The larger prize is the new products, solutions and capabilities that did not exist before.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331720"/>
            <a:ext cx="457200" cy="5486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74519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 spc="220">
                <a:solidFill>
                  <a:srgbClr val="0070C0"/>
                </a:solidFill>
                <a:latin typeface="Arial"/>
              </a:rPr>
              <a:t>SECTION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06040"/>
            <a:ext cx="10972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600" b="0" i="0">
                <a:solidFill>
                  <a:srgbClr val="FFFFFF"/>
                </a:solidFill>
                <a:latin typeface="Georgia"/>
              </a:rPr>
              <a:t>Strategic </a:t>
            </a:r>
            <a:r>
              <a:rPr sz="4600" b="0" i="0">
                <a:solidFill>
                  <a:srgbClr val="0070C0"/>
                </a:solidFill>
                <a:latin typeface="Georgia"/>
              </a:rPr>
              <a:t>Imperative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7" y="3977639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 i="0">
                <a:solidFill>
                  <a:srgbClr val="8A93A8"/>
                </a:solidFill>
                <a:latin typeface="Arial"/>
              </a:rPr>
              <a:t>Why invest in AI fluency now?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00800"/>
            <a:ext cx="896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 spc="80">
                <a:solidFill>
                  <a:srgbClr val="4A5270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 spc="220">
                <a:solidFill>
                  <a:srgbClr val="0070C0"/>
                </a:solidFill>
                <a:latin typeface="Arial"/>
              </a:rPr>
              <a:t>STRATEGIC IMPERATIVE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300" b="0" i="0">
                <a:solidFill>
                  <a:srgbClr val="1A1C22"/>
                </a:solidFill>
                <a:latin typeface="Georgia"/>
              </a:rPr>
              <a:t>AI in Systems Engineering </a:t>
            </a:r>
            <a:r>
              <a:rPr sz="3300" b="0" i="0">
                <a:solidFill>
                  <a:srgbClr val="0070C0"/>
                </a:solidFill>
                <a:latin typeface="Georgia"/>
              </a:rPr>
              <a:t>services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55664"/>
            <a:ext cx="11183112" cy="9525"/>
          </a:xfrm>
          <a:prstGeom prst="rect">
            <a:avLst/>
          </a:prstGeom>
          <a:solidFill>
            <a:srgbClr val="E0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0" i="0" spc="80">
                <a:solidFill>
                  <a:srgbClr val="8A93A8"/>
                </a:solidFill>
                <a:latin typeface="Arial"/>
              </a:rPr>
              <a:t>AI Implementation Strategy  .  Systems Engineering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10528"/>
            <a:ext cx="896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 spc="80">
                <a:solidFill>
                  <a:srgbClr val="8A93A8"/>
                </a:solidFill>
                <a:latin typeface="Arial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011680"/>
            <a:ext cx="1115568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011680"/>
            <a:ext cx="64008" cy="841248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2011680"/>
            <a:ext cx="106984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1" i="0">
                <a:solidFill>
                  <a:srgbClr val="1A1C22"/>
                </a:solidFill>
                <a:latin typeface="Arial"/>
              </a:rPr>
              <a:t>A more competitive landscape</a:t>
            </a:r>
            <a:r>
              <a:rPr sz="1250" b="1" i="0">
                <a:solidFill>
                  <a:srgbClr val="0070C0"/>
                </a:solidFill>
                <a:latin typeface="Arial"/>
              </a:rPr>
              <a:t>  --  </a:t>
            </a:r>
            <a:r>
              <a:rPr sz="1200" b="0" i="0">
                <a:solidFill>
                  <a:srgbClr val="52586A"/>
                </a:solidFill>
                <a:latin typeface="Arial"/>
              </a:rPr>
              <a:t>Knowledge access, speed, data-sovereignty concerns and new entrants are all compressing the market for engineering services.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999232"/>
            <a:ext cx="1115568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999232"/>
            <a:ext cx="64008" cy="841248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2999232"/>
            <a:ext cx="106984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1" i="0">
                <a:solidFill>
                  <a:srgbClr val="1A1C22"/>
                </a:solidFill>
                <a:latin typeface="Arial"/>
              </a:rPr>
              <a:t>Clients are refocusing investment</a:t>
            </a:r>
            <a:r>
              <a:rPr sz="1250" b="1" i="0">
                <a:solidFill>
                  <a:srgbClr val="0070C0"/>
                </a:solidFill>
                <a:latin typeface="Arial"/>
              </a:rPr>
              <a:t>  --  </a:t>
            </a:r>
            <a:r>
              <a:rPr sz="1200" b="0" i="0">
                <a:solidFill>
                  <a:srgbClr val="52586A"/>
                </a:solidFill>
                <a:latin typeface="Arial"/>
              </a:rPr>
              <a:t>Into infrastructure and AI roll-ups, and into long-term capabilities they will not outsource.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986784"/>
            <a:ext cx="1115568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3986784"/>
            <a:ext cx="64008" cy="841248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952" y="3986784"/>
            <a:ext cx="106984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1" i="0">
                <a:solidFill>
                  <a:srgbClr val="1A1C22"/>
                </a:solidFill>
                <a:latin typeface="Arial"/>
              </a:rPr>
              <a:t>New products demand new fluency</a:t>
            </a:r>
            <a:r>
              <a:rPr sz="1250" b="1" i="0">
                <a:solidFill>
                  <a:srgbClr val="0070C0"/>
                </a:solidFill>
                <a:latin typeface="Arial"/>
              </a:rPr>
              <a:t>  --  </a:t>
            </a:r>
            <a:r>
              <a:rPr sz="1200" b="0" i="0">
                <a:solidFill>
                  <a:srgbClr val="52586A"/>
                </a:solidFill>
                <a:latin typeface="Arial"/>
              </a:rPr>
              <a:t>Building modern products requires AI fluency plus a real understanding of workflows and customer needs.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974336"/>
            <a:ext cx="1115568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4974336"/>
            <a:ext cx="64008" cy="841248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952" y="4974336"/>
            <a:ext cx="106984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1" i="0">
                <a:solidFill>
                  <a:srgbClr val="1A1C22"/>
                </a:solidFill>
                <a:latin typeface="Arial"/>
              </a:rPr>
              <a:t>Experience is more relevant, not less</a:t>
            </a:r>
            <a:r>
              <a:rPr sz="1250" b="1" i="0">
                <a:solidFill>
                  <a:srgbClr val="0070C0"/>
                </a:solidFill>
                <a:latin typeface="Arial"/>
              </a:rPr>
              <a:t>  --  </a:t>
            </a:r>
            <a:r>
              <a:rPr sz="1200" b="0" i="0">
                <a:solidFill>
                  <a:srgbClr val="52586A"/>
                </a:solidFill>
                <a:latin typeface="Arial"/>
              </a:rPr>
              <a:t>It is precisely domain experience that is required to build solutions with real impact.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 spc="220">
                <a:solidFill>
                  <a:srgbClr val="0070C0"/>
                </a:solidFill>
                <a:latin typeface="Arial"/>
              </a:rPr>
              <a:t>STRATEGIC IMPERATIVE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300" b="0" i="0">
                <a:solidFill>
                  <a:srgbClr val="1A1C22"/>
                </a:solidFill>
                <a:latin typeface="Georgia"/>
              </a:rPr>
              <a:t>AI product </a:t>
            </a:r>
            <a:r>
              <a:rPr sz="3300" b="0" i="0">
                <a:solidFill>
                  <a:srgbClr val="0070C0"/>
                </a:solidFill>
                <a:latin typeface="Georgia"/>
              </a:rPr>
              <a:t>development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55664"/>
            <a:ext cx="11183112" cy="9525"/>
          </a:xfrm>
          <a:prstGeom prst="rect">
            <a:avLst/>
          </a:prstGeom>
          <a:solidFill>
            <a:srgbClr val="E0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0" i="0" spc="80">
                <a:solidFill>
                  <a:srgbClr val="8A93A8"/>
                </a:solidFill>
                <a:latin typeface="Arial"/>
              </a:rPr>
              <a:t>AI Implementation Strategy  .  Systems Engineering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10528"/>
            <a:ext cx="896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 spc="80">
                <a:solidFill>
                  <a:srgbClr val="8A93A8"/>
                </a:solidFill>
                <a:latin typeface="Arial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011680"/>
            <a:ext cx="1115568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011680"/>
            <a:ext cx="64008" cy="9601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2011680"/>
            <a:ext cx="106984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1" i="0">
                <a:solidFill>
                  <a:srgbClr val="1A1C22"/>
                </a:solidFill>
                <a:latin typeface="Arial"/>
              </a:rPr>
              <a:t>An emerging field, many names</a:t>
            </a:r>
            <a:r>
              <a:rPr sz="1250" b="1" i="0">
                <a:solidFill>
                  <a:srgbClr val="0070C0"/>
                </a:solidFill>
                <a:latin typeface="Arial"/>
              </a:rPr>
              <a:t>  --  </a:t>
            </a:r>
            <a:r>
              <a:rPr sz="1200" b="0" i="0">
                <a:solidFill>
                  <a:srgbClr val="52586A"/>
                </a:solidFill>
                <a:latin typeface="Arial"/>
              </a:rPr>
              <a:t>AI systems engineering, product development, Gen AI engineering -- I use them interchangeably, but product development is the industry term.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36392"/>
            <a:ext cx="1115568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136392"/>
            <a:ext cx="64008" cy="9601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3136392"/>
            <a:ext cx="106984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1" i="0">
                <a:solidFill>
                  <a:srgbClr val="1A1C22"/>
                </a:solidFill>
                <a:latin typeface="Arial"/>
              </a:rPr>
              <a:t>The builder has changed</a:t>
            </a:r>
            <a:r>
              <a:rPr sz="1250" b="1" i="0">
                <a:solidFill>
                  <a:srgbClr val="0070C0"/>
                </a:solidFill>
                <a:latin typeface="Arial"/>
              </a:rPr>
              <a:t>  --  </a:t>
            </a:r>
            <a:r>
              <a:rPr sz="1200" b="0" i="0">
                <a:solidFill>
                  <a:srgbClr val="52586A"/>
                </a:solidFill>
                <a:latin typeface="Arial"/>
              </a:rPr>
              <a:t>Product managers can now build solutions. Going to market, managing stakeholder needs and building business models around customer success now differentiate more than the technically sounder solution.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261104"/>
            <a:ext cx="1115568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4261104"/>
            <a:ext cx="64008" cy="9601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952" y="4261104"/>
            <a:ext cx="106984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1" i="0">
                <a:solidFill>
                  <a:srgbClr val="1A1C22"/>
                </a:solidFill>
                <a:latin typeface="Arial"/>
              </a:rPr>
              <a:t>Cycles are obsolete; fundamentals are not</a:t>
            </a:r>
            <a:r>
              <a:rPr sz="1250" b="1" i="0">
                <a:solidFill>
                  <a:srgbClr val="0070C0"/>
                </a:solidFill>
                <a:latin typeface="Arial"/>
              </a:rPr>
              <a:t>  --  </a:t>
            </a:r>
            <a:r>
              <a:rPr sz="1200" b="0" i="0">
                <a:solidFill>
                  <a:srgbClr val="52586A"/>
                </a:solidFill>
                <a:latin typeface="Arial"/>
              </a:rPr>
              <a:t>Tools, speed, information volume and the methods to assess success have all changed. The underlying engineering fundamentals still hold their value.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 spc="220">
                <a:solidFill>
                  <a:srgbClr val="0070C0"/>
                </a:solidFill>
                <a:latin typeface="Arial"/>
              </a:rPr>
              <a:t>STRATEGIC IMPERATIVE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300" b="0" i="0">
                <a:solidFill>
                  <a:srgbClr val="1A1C22"/>
                </a:solidFill>
                <a:latin typeface="Georgia"/>
              </a:rPr>
              <a:t>The AI </a:t>
            </a:r>
            <a:r>
              <a:rPr sz="3300" b="0" i="0">
                <a:solidFill>
                  <a:srgbClr val="0070C0"/>
                </a:solidFill>
                <a:latin typeface="Georgia"/>
              </a:rPr>
              <a:t>value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572768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52586A"/>
                </a:solidFill>
                <a:latin typeface="Arial"/>
              </a:rPr>
              <a:t>We are implementation and solution providers -- not a bad position. Many start-ups and great firms win with that playbook.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55664"/>
            <a:ext cx="11183112" cy="9525"/>
          </a:xfrm>
          <a:prstGeom prst="rect">
            <a:avLst/>
          </a:prstGeom>
          <a:solidFill>
            <a:srgbClr val="E0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0" i="0" spc="80">
                <a:solidFill>
                  <a:srgbClr val="8A93A8"/>
                </a:solidFill>
                <a:latin typeface="Arial"/>
              </a:rPr>
              <a:t>AI Implementation Strategy  .  Systems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510528"/>
            <a:ext cx="896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 spc="80">
                <a:solidFill>
                  <a:srgbClr val="8A93A8"/>
                </a:solidFill>
                <a:latin typeface="Arial"/>
              </a:rPr>
              <a:t>06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86000"/>
            <a:ext cx="7772400" cy="603504"/>
          </a:xfrm>
          <a:prstGeom prst="roundRect">
            <a:avLst>
              <a:gd name="adj" fmla="val 8000"/>
            </a:avLst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2286000"/>
            <a:ext cx="74066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50" b="1" i="0">
                <a:solidFill>
                  <a:srgbClr val="FFFFFF"/>
                </a:solidFill>
                <a:latin typeface="Arial"/>
              </a:rPr>
              <a:t>Applications &amp; Solutions</a:t>
            </a:r>
            <a:r>
              <a:rPr sz="950" b="0" i="0">
                <a:solidFill>
                  <a:srgbClr val="DDE6F2"/>
                </a:solidFill>
                <a:latin typeface="Arial"/>
              </a:rPr>
              <a:t>    Where we play  .  implementation &amp; solution providers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980944"/>
            <a:ext cx="7772400" cy="603504"/>
          </a:xfrm>
          <a:prstGeom prst="roundRect">
            <a:avLst>
              <a:gd name="adj" fmla="val 8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2980944"/>
            <a:ext cx="74066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50" b="1" i="0">
                <a:solidFill>
                  <a:srgbClr val="FFFFFF"/>
                </a:solidFill>
                <a:latin typeface="Arial"/>
              </a:rPr>
              <a:t>Models  .  LMMs</a:t>
            </a:r>
            <a:r>
              <a:rPr sz="950" b="0" i="0">
                <a:solidFill>
                  <a:srgbClr val="DDE6F2"/>
                </a:solidFill>
                <a:latin typeface="Arial"/>
              </a:rPr>
              <a:t>    Multimodal LMMs (Gemini, Anthropic) overtook text-only LLMs; dedicated models still valuable when architecting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675887"/>
            <a:ext cx="7772400" cy="603504"/>
          </a:xfrm>
          <a:prstGeom prst="roundRect">
            <a:avLst>
              <a:gd name="adj" fmla="val 8000"/>
            </a:avLst>
          </a:prstGeom>
          <a:solidFill>
            <a:srgbClr val="00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3675887"/>
            <a:ext cx="74066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50" b="1" i="0">
                <a:solidFill>
                  <a:srgbClr val="FFFFFF"/>
                </a:solidFill>
                <a:latin typeface="Arial"/>
              </a:rPr>
              <a:t>Compute</a:t>
            </a:r>
            <a:r>
              <a:rPr sz="950" b="0" i="0">
                <a:solidFill>
                  <a:srgbClr val="DDE6F2"/>
                </a:solidFill>
                <a:latin typeface="Arial"/>
              </a:rPr>
              <a:t>    Hyperscalers own and contract  .  xAI, sovereign compute, demand guarantees, unlikely players (VW)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370831"/>
            <a:ext cx="7772400" cy="603504"/>
          </a:xfrm>
          <a:prstGeom prst="roundRect">
            <a:avLst>
              <a:gd name="adj" fmla="val 8000"/>
            </a:avLst>
          </a:prstGeom>
          <a:solidFill>
            <a:srgbClr val="7B4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088" y="4370831"/>
            <a:ext cx="74066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50" b="1" i="0">
                <a:solidFill>
                  <a:srgbClr val="FFFFFF"/>
                </a:solidFill>
                <a:latin typeface="Arial"/>
              </a:rPr>
              <a:t>Energy &amp; Grid</a:t>
            </a:r>
            <a:r>
              <a:rPr sz="950" b="0" i="0">
                <a:solidFill>
                  <a:srgbClr val="DDE6F2"/>
                </a:solidFill>
                <a:latin typeface="Arial"/>
              </a:rPr>
              <a:t>    The binding physical constraint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065775"/>
            <a:ext cx="7772400" cy="603504"/>
          </a:xfrm>
          <a:prstGeom prst="roundRect">
            <a:avLst>
              <a:gd name="adj" fmla="val 8000"/>
            </a:avLst>
          </a:prstGeom>
          <a:solidFill>
            <a:srgbClr val="1A5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5065775"/>
            <a:ext cx="74066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50" b="1" i="0">
                <a:solidFill>
                  <a:srgbClr val="FFFFFF"/>
                </a:solidFill>
                <a:latin typeface="Arial"/>
              </a:rPr>
              <a:t>Silicon</a:t>
            </a:r>
            <a:r>
              <a:rPr sz="950" b="0" i="0">
                <a:solidFill>
                  <a:srgbClr val="DDE6F2"/>
                </a:solidFill>
                <a:latin typeface="Arial"/>
              </a:rPr>
              <a:t>    Designers (NVIDIA)  .  manufacturers (TSMC)  .  machine makers (ASML)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49640" y="2286000"/>
            <a:ext cx="315468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549640" y="2286000"/>
            <a:ext cx="3154680" cy="54864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14232" y="2468880"/>
            <a:ext cx="2843784" cy="1106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1" i="0" spc="140">
                <a:solidFill>
                  <a:srgbClr val="8B1A1A"/>
                </a:solidFill>
                <a:latin typeface="Arial"/>
              </a:rPr>
              <a:t>CROSS-CUTTING</a:t>
            </a:r>
          </a:p>
          <a:p>
            <a:pPr>
              <a:spcBef>
                <a:spcPts val="300"/>
              </a:spcBef>
            </a:pPr>
            <a:r>
              <a:rPr sz="1300" b="1" i="0">
                <a:solidFill>
                  <a:srgbClr val="1A1C22"/>
                </a:solidFill>
                <a:latin typeface="Arial"/>
              </a:rPr>
              <a:t>One player, whole chain</a:t>
            </a:r>
          </a:p>
          <a:p>
            <a:pPr>
              <a:lnSpc>
                <a:spcPct val="118000"/>
              </a:lnSpc>
              <a:spcBef>
                <a:spcPts val="400"/>
              </a:spcBef>
            </a:pPr>
            <a:r>
              <a:rPr sz="1100" b="0" i="0">
                <a:solidFill>
                  <a:srgbClr val="52586A"/>
                </a:solidFill>
                <a:latin typeface="Arial"/>
              </a:rPr>
              <a:t>Companies like Samsung cut across the entire value chain -- design, manufacturing and devices.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49640" y="3840480"/>
            <a:ext cx="3154680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549640" y="3840480"/>
            <a:ext cx="3154680" cy="5486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14232" y="4023360"/>
            <a:ext cx="2843784" cy="1316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1" i="0" spc="140">
                <a:solidFill>
                  <a:srgbClr val="0070C0"/>
                </a:solidFill>
                <a:latin typeface="Arial"/>
              </a:rPr>
              <a:t>OUR LAYER</a:t>
            </a:r>
          </a:p>
          <a:p>
            <a:pPr>
              <a:spcBef>
                <a:spcPts val="300"/>
              </a:spcBef>
            </a:pPr>
            <a:r>
              <a:rPr sz="1300" b="1" i="0">
                <a:solidFill>
                  <a:srgbClr val="1A1C22"/>
                </a:solidFill>
                <a:latin typeface="Arial"/>
              </a:rPr>
              <a:t>Closest to the customer</a:t>
            </a:r>
          </a:p>
          <a:p>
            <a:pPr>
              <a:lnSpc>
                <a:spcPct val="118000"/>
              </a:lnSpc>
              <a:spcBef>
                <a:spcPts val="400"/>
              </a:spcBef>
            </a:pPr>
            <a:r>
              <a:rPr sz="1100" b="0" i="0">
                <a:solidFill>
                  <a:srgbClr val="52586A"/>
                </a:solidFill>
                <a:latin typeface="Arial"/>
              </a:rPr>
              <a:t>Implementation and solution providers capture near-zero build cost and hyper-customization -- and own the customer relationship.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 spc="220">
                <a:solidFill>
                  <a:srgbClr val="0070C0"/>
                </a:solidFill>
                <a:latin typeface="Arial"/>
              </a:rPr>
              <a:t>STRATEGIC IMPERATIVE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300" b="0" i="0">
                <a:solidFill>
                  <a:srgbClr val="1A1C22"/>
                </a:solidFill>
                <a:latin typeface="Georgia"/>
              </a:rPr>
              <a:t>The value-capture </a:t>
            </a:r>
            <a:r>
              <a:rPr sz="3300" b="0" i="0">
                <a:solidFill>
                  <a:srgbClr val="0070C0"/>
                </a:solidFill>
                <a:latin typeface="Georgia"/>
              </a:rPr>
              <a:t>dilemma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572768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52586A"/>
                </a:solidFill>
                <a:latin typeface="Arial"/>
              </a:rPr>
              <a:t>There are many winners. The question is where a services firm should play.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55664"/>
            <a:ext cx="11183112" cy="9525"/>
          </a:xfrm>
          <a:prstGeom prst="rect">
            <a:avLst/>
          </a:prstGeom>
          <a:solidFill>
            <a:srgbClr val="E0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0" i="0" spc="80">
                <a:solidFill>
                  <a:srgbClr val="8A93A8"/>
                </a:solidFill>
                <a:latin typeface="Arial"/>
              </a:rPr>
              <a:t>AI Implementation Strategy  .  Systems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510528"/>
            <a:ext cx="896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 spc="80">
                <a:solidFill>
                  <a:srgbClr val="8A93A8"/>
                </a:solidFill>
                <a:latin typeface="Arial"/>
              </a:rPr>
              <a:t>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40280"/>
            <a:ext cx="5440680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40280"/>
            <a:ext cx="5440680" cy="5486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441448"/>
            <a:ext cx="498348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 spc="120">
                <a:solidFill>
                  <a:srgbClr val="002060"/>
                </a:solidFill>
                <a:latin typeface="Arial"/>
              </a:rPr>
              <a:t>TOP-DOWN TRANSFORMATION</a:t>
            </a:r>
          </a:p>
          <a:p>
            <a:pPr>
              <a:spcBef>
                <a:spcPts val="400"/>
              </a:spcBef>
            </a:pPr>
            <a:r>
              <a:rPr sz="1450" b="1" i="0">
                <a:solidFill>
                  <a:srgbClr val="1A1C22"/>
                </a:solidFill>
                <a:latin typeface="Georgia"/>
              </a:rPr>
              <a:t>The big-bang play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 i="0">
                <a:solidFill>
                  <a:srgbClr val="002060"/>
                </a:solidFill>
                <a:latin typeface="Arial"/>
              </a:rPr>
              <a:t>•  </a:t>
            </a:r>
            <a:r>
              <a:rPr sz="1150" b="0" i="0">
                <a:solidFill>
                  <a:srgbClr val="52586A"/>
                </a:solidFill>
                <a:latin typeface="Arial"/>
              </a:rPr>
              <a:t>CEO-directed, large-scale AI transformation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 i="0">
                <a:solidFill>
                  <a:srgbClr val="002060"/>
                </a:solidFill>
                <a:latin typeface="Arial"/>
              </a:rPr>
              <a:t>•  </a:t>
            </a:r>
            <a:r>
              <a:rPr sz="1150" b="0" i="0">
                <a:solidFill>
                  <a:srgbClr val="52586A"/>
                </a:solidFill>
                <a:latin typeface="Arial"/>
              </a:rPr>
              <a:t>The largest single value driver -- a bigger pie, so large vendors push for it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 i="0">
                <a:solidFill>
                  <a:srgbClr val="002060"/>
                </a:solidFill>
                <a:latin typeface="Arial"/>
              </a:rPr>
              <a:t>•  </a:t>
            </a:r>
            <a:r>
              <a:rPr sz="1150" b="0" i="0">
                <a:solidFill>
                  <a:srgbClr val="52586A"/>
                </a:solidFill>
                <a:latin typeface="Arial"/>
              </a:rPr>
              <a:t>Capex- and time-intensive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 i="0">
                <a:solidFill>
                  <a:srgbClr val="002060"/>
                </a:solidFill>
                <a:latin typeface="Arial"/>
              </a:rPr>
              <a:t>•  </a:t>
            </a:r>
            <a:r>
              <a:rPr sz="1150" b="0" i="0">
                <a:solidFill>
                  <a:srgbClr val="52586A"/>
                </a:solidFill>
                <a:latin typeface="Arial"/>
              </a:rPr>
              <a:t>High risk of failure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5352" y="2240280"/>
            <a:ext cx="5440680" cy="3200400"/>
          </a:xfrm>
          <a:prstGeom prst="roundRect">
            <a:avLst>
              <a:gd name="adj" fmla="val 4000"/>
            </a:avLst>
          </a:prstGeom>
          <a:solidFill>
            <a:srgbClr val="E6EEF7"/>
          </a:solidFill>
          <a:ln w="15875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5352" y="2240280"/>
            <a:ext cx="5440680" cy="5486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441448"/>
            <a:ext cx="498348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 spc="120">
                <a:solidFill>
                  <a:srgbClr val="0070C0"/>
                </a:solidFill>
                <a:latin typeface="Arial"/>
              </a:rPr>
              <a:t>BOTTOM-UP BUILDING  .  I ARGUE</a:t>
            </a:r>
          </a:p>
          <a:p>
            <a:pPr>
              <a:spcBef>
                <a:spcPts val="400"/>
              </a:spcBef>
            </a:pPr>
            <a:r>
              <a:rPr sz="1450" b="1" i="0">
                <a:solidFill>
                  <a:srgbClr val="002060"/>
                </a:solidFill>
                <a:latin typeface="Georgia"/>
              </a:rPr>
              <a:t>Close to the ground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 i="0">
                <a:solidFill>
                  <a:srgbClr val="0070C0"/>
                </a:solidFill>
                <a:latin typeface="Arial"/>
              </a:rPr>
              <a:t>•  </a:t>
            </a:r>
            <a:r>
              <a:rPr sz="1150" b="0" i="0">
                <a:solidFill>
                  <a:srgbClr val="0D3060"/>
                </a:solidFill>
                <a:latin typeface="Arial"/>
              </a:rPr>
              <a:t>Captures AI's negligible development cost and hyper-customization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 i="0">
                <a:solidFill>
                  <a:srgbClr val="0070C0"/>
                </a:solidFill>
                <a:latin typeface="Arial"/>
              </a:rPr>
              <a:t>•  </a:t>
            </a:r>
            <a:r>
              <a:rPr sz="1150" b="0" i="0">
                <a:solidFill>
                  <a:srgbClr val="0D3060"/>
                </a:solidFill>
                <a:latin typeface="Arial"/>
              </a:rPr>
              <a:t>May or may not scale -- but it will delight its users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 i="0">
                <a:solidFill>
                  <a:srgbClr val="0070C0"/>
                </a:solidFill>
                <a:latin typeface="Arial"/>
              </a:rPr>
              <a:t>•  </a:t>
            </a:r>
            <a:r>
              <a:rPr sz="1150" b="0" i="0">
                <a:solidFill>
                  <a:srgbClr val="0D3060"/>
                </a:solidFill>
                <a:latin typeface="Arial"/>
              </a:rPr>
              <a:t>Highly attractive territory for would-be start-ups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 i="0">
                <a:solidFill>
                  <a:srgbClr val="0070C0"/>
                </a:solidFill>
                <a:latin typeface="Arial"/>
              </a:rPr>
              <a:t>•  </a:t>
            </a:r>
            <a:r>
              <a:rPr sz="1150" b="0" i="0">
                <a:solidFill>
                  <a:srgbClr val="0D3060"/>
                </a:solidFill>
                <a:latin typeface="Arial"/>
              </a:rPr>
              <a:t>Needs AI expertise + domain expertise + people who build and translate for those who can't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 spc="220">
                <a:solidFill>
                  <a:srgbClr val="0070C0"/>
                </a:solidFill>
                <a:latin typeface="Arial"/>
              </a:rPr>
              <a:t>STRATEGIC IMPERATIVE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300" b="0" i="0">
                <a:solidFill>
                  <a:srgbClr val="1A1C22"/>
                </a:solidFill>
                <a:latin typeface="Georgia"/>
              </a:rPr>
              <a:t>SaaS &amp; </a:t>
            </a:r>
            <a:r>
              <a:rPr sz="3300" b="0" i="0">
                <a:solidFill>
                  <a:srgbClr val="0070C0"/>
                </a:solidFill>
                <a:latin typeface="Georgia"/>
              </a:rPr>
              <a:t>MBSE tool vendors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55664"/>
            <a:ext cx="11183112" cy="9525"/>
          </a:xfrm>
          <a:prstGeom prst="rect">
            <a:avLst/>
          </a:prstGeom>
          <a:solidFill>
            <a:srgbClr val="E0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0" i="0" spc="80">
                <a:solidFill>
                  <a:srgbClr val="8A93A8"/>
                </a:solidFill>
                <a:latin typeface="Arial"/>
              </a:rPr>
              <a:t>AI Implementation Strategy  .  Systems Engineering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10528"/>
            <a:ext cx="896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 spc="80">
                <a:solidFill>
                  <a:srgbClr val="8A93A8"/>
                </a:solidFill>
                <a:latin typeface="Arial"/>
              </a:rP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74519"/>
            <a:ext cx="1115568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874519"/>
            <a:ext cx="64008" cy="64008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874519"/>
            <a:ext cx="10698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150" b="1" i="0">
                <a:solidFill>
                  <a:srgbClr val="1A1C22"/>
                </a:solidFill>
                <a:latin typeface="Arial"/>
              </a:rPr>
              <a:t>Defensibility is more than features</a:t>
            </a:r>
            <a:r>
              <a:rPr sz="1150" b="1" i="0">
                <a:solidFill>
                  <a:srgbClr val="002060"/>
                </a:solidFill>
                <a:latin typeface="Arial"/>
              </a:rPr>
              <a:t>  --  </a:t>
            </a:r>
            <a:r>
              <a:rPr sz="1100" b="0" i="0">
                <a:solidFill>
                  <a:srgbClr val="52586A"/>
                </a:solidFill>
                <a:latin typeface="Arial"/>
              </a:rPr>
              <a:t>System-of-record dynamics, switching costs and who owns the interfaces matter more than tool functionality.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606039"/>
            <a:ext cx="1115568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606039"/>
            <a:ext cx="64008" cy="64008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2606039"/>
            <a:ext cx="10698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150" b="1" i="0">
                <a:solidFill>
                  <a:srgbClr val="1A1C22"/>
                </a:solidFill>
                <a:latin typeface="Arial"/>
              </a:rPr>
              <a:t>A comfortable position</a:t>
            </a:r>
            <a:r>
              <a:rPr sz="1150" b="1" i="0">
                <a:solidFill>
                  <a:srgbClr val="002060"/>
                </a:solidFill>
                <a:latin typeface="Arial"/>
              </a:rPr>
              <a:t>  --  </a:t>
            </a:r>
            <a:r>
              <a:rPr sz="1100" b="0" i="0">
                <a:solidFill>
                  <a:srgbClr val="52586A"/>
                </a:solidFill>
                <a:latin typeface="Arial"/>
              </a:rPr>
              <a:t>They hold the market and legacy switching costs. They can sit on it, or ship AI that improves the core -- they will not disrupt themselves.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337559"/>
            <a:ext cx="1115568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3337559"/>
            <a:ext cx="64008" cy="64008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952" y="3337559"/>
            <a:ext cx="10698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150" b="1" i="0">
                <a:solidFill>
                  <a:srgbClr val="1A1C22"/>
                </a:solidFill>
                <a:latin typeface="Arial"/>
              </a:rPr>
              <a:t>They die only when something is remarkably better or cheaper</a:t>
            </a:r>
            <a:r>
              <a:rPr sz="1150" b="1" i="0">
                <a:solidFill>
                  <a:srgbClr val="002060"/>
                </a:solidFill>
                <a:latin typeface="Arial"/>
              </a:rPr>
              <a:t>  --  </a:t>
            </a:r>
            <a:r>
              <a:rPr sz="1100" b="0" i="0">
                <a:solidFill>
                  <a:srgbClr val="52586A"/>
                </a:solidFill>
                <a:latin typeface="Arial"/>
              </a:rPr>
              <a:t>Not before.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069079"/>
            <a:ext cx="1115568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4069079"/>
            <a:ext cx="64008" cy="64008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952" y="4069079"/>
            <a:ext cx="10698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150" b="1" i="0">
                <a:solidFill>
                  <a:srgbClr val="1A1C22"/>
                </a:solidFill>
                <a:latin typeface="Arial"/>
              </a:rPr>
              <a:t>Pricing is shifting</a:t>
            </a:r>
            <a:r>
              <a:rPr sz="1150" b="1" i="0">
                <a:solidFill>
                  <a:srgbClr val="002060"/>
                </a:solidFill>
                <a:latin typeface="Arial"/>
              </a:rPr>
              <a:t>  --  </a:t>
            </a:r>
            <a:r>
              <a:rPr sz="1100" b="0" i="0">
                <a:solidFill>
                  <a:srgbClr val="52586A"/>
                </a:solidFill>
                <a:latin typeface="Arial"/>
              </a:rPr>
              <a:t>Seat-based pricing breaks down under token variable costs and more efficient customer usage.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800599"/>
            <a:ext cx="1115568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4800599"/>
            <a:ext cx="64008" cy="64008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952" y="4800599"/>
            <a:ext cx="10698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150" b="1" i="0">
                <a:solidFill>
                  <a:srgbClr val="1A1C22"/>
                </a:solidFill>
                <a:latin typeface="Arial"/>
              </a:rPr>
              <a:t>Expect a slow death for current MBSE software</a:t>
            </a:r>
            <a:r>
              <a:rPr sz="1150" b="1" i="0">
                <a:solidFill>
                  <a:srgbClr val="002060"/>
                </a:solidFill>
                <a:latin typeface="Arial"/>
              </a:rPr>
              <a:t>  --  </a:t>
            </a:r>
            <a:r>
              <a:rPr sz="1100" b="0" i="0">
                <a:solidFill>
                  <a:srgbClr val="52586A"/>
                </a:solidFill>
                <a:latin typeface="Arial"/>
              </a:rPr>
              <a:t>AI firms will orbit it for now; the market is too niche for a well-funded start-up takeover.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532119"/>
            <a:ext cx="1115568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5532119"/>
            <a:ext cx="64008" cy="64008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8952" y="5532119"/>
            <a:ext cx="10698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150" b="1" i="0">
                <a:solidFill>
                  <a:srgbClr val="1A1C22"/>
                </a:solidFill>
                <a:latin typeface="Arial"/>
              </a:rPr>
              <a:t>Demand is moving</a:t>
            </a:r>
            <a:r>
              <a:rPr sz="1150" b="1" i="0">
                <a:solidFill>
                  <a:srgbClr val="002060"/>
                </a:solidFill>
                <a:latin typeface="Arial"/>
              </a:rPr>
              <a:t>  --  </a:t>
            </a:r>
            <a:r>
              <a:rPr sz="1100" b="0" i="0">
                <a:solidFill>
                  <a:srgbClr val="52586A"/>
                </a:solidFill>
                <a:latin typeface="Arial"/>
              </a:rPr>
              <a:t>Tool-expertise project demand will fall; client-value demand will grow.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331720"/>
            <a:ext cx="457200" cy="5486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74519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 spc="220">
                <a:solidFill>
                  <a:srgbClr val="0070C0"/>
                </a:solidFill>
                <a:latin typeface="Arial"/>
              </a:rPr>
              <a:t>SECTION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06040"/>
            <a:ext cx="10972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600" b="0" i="0">
                <a:solidFill>
                  <a:srgbClr val="FFFFFF"/>
                </a:solidFill>
                <a:latin typeface="Georgia"/>
              </a:rPr>
              <a:t>Understanding how </a:t>
            </a:r>
            <a:r>
              <a:rPr sz="4600" b="0" i="0">
                <a:solidFill>
                  <a:srgbClr val="0070C0"/>
                </a:solidFill>
                <a:latin typeface="Georgia"/>
              </a:rPr>
              <a:t>AI learns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7" y="3977639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 i="0">
                <a:solidFill>
                  <a:srgbClr val="8A93A8"/>
                </a:solidFill>
                <a:latin typeface="Arial"/>
              </a:rPr>
              <a:t>Fundamentals &amp; barriers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00800"/>
            <a:ext cx="896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 spc="80">
                <a:solidFill>
                  <a:srgbClr val="4A5270"/>
                </a:solidFill>
                <a:latin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 spc="220">
                <a:solidFill>
                  <a:srgbClr val="0070C0"/>
                </a:solidFill>
                <a:latin typeface="Arial"/>
              </a:rPr>
              <a:t>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300" b="0" i="0">
                <a:solidFill>
                  <a:srgbClr val="1A1C22"/>
                </a:solidFill>
                <a:latin typeface="Georgia"/>
              </a:rPr>
              <a:t>Gen AI vs </a:t>
            </a:r>
            <a:r>
              <a:rPr sz="3300" b="0" i="0">
                <a:solidFill>
                  <a:srgbClr val="0070C0"/>
                </a:solidFill>
                <a:latin typeface="Georgia"/>
              </a:rPr>
              <a:t>traditional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572768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52586A"/>
                </a:solidFill>
                <a:latin typeface="Arial"/>
              </a:rPr>
              <a:t>A brief primer, then what it means for how we build.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55664"/>
            <a:ext cx="11183112" cy="9525"/>
          </a:xfrm>
          <a:prstGeom prst="rect">
            <a:avLst/>
          </a:prstGeom>
          <a:solidFill>
            <a:srgbClr val="E0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0" i="0" spc="80">
                <a:solidFill>
                  <a:srgbClr val="8A93A8"/>
                </a:solidFill>
                <a:latin typeface="Arial"/>
              </a:rPr>
              <a:t>AI Implementation Strategy  .  Systems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510528"/>
            <a:ext cx="896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 spc="80">
                <a:solidFill>
                  <a:srgbClr val="8A93A8"/>
                </a:solidFill>
                <a:latin typeface="Arial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48840"/>
            <a:ext cx="361188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148840"/>
            <a:ext cx="3611880" cy="54864"/>
          </a:xfrm>
          <a:prstGeom prst="rect">
            <a:avLst/>
          </a:prstGeom>
          <a:solidFill>
            <a:srgbClr val="00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331720"/>
            <a:ext cx="3300984" cy="1152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1" i="0" spc="140">
                <a:solidFill>
                  <a:srgbClr val="006B6B"/>
                </a:solidFill>
                <a:latin typeface="Arial"/>
              </a:rPr>
              <a:t>STRUCTURE</a:t>
            </a:r>
          </a:p>
          <a:p>
            <a:pPr>
              <a:spcBef>
                <a:spcPts val="300"/>
              </a:spcBef>
            </a:pPr>
            <a:r>
              <a:rPr sz="1300" b="1" i="0">
                <a:solidFill>
                  <a:srgbClr val="1A1C22"/>
                </a:solidFill>
                <a:latin typeface="Arial"/>
              </a:rPr>
              <a:t>Neural networks</a:t>
            </a:r>
          </a:p>
          <a:p>
            <a:pPr>
              <a:lnSpc>
                <a:spcPct val="118000"/>
              </a:lnSpc>
              <a:spcBef>
                <a:spcPts val="400"/>
              </a:spcBef>
            </a:pPr>
            <a:r>
              <a:rPr sz="1100" b="0" i="0">
                <a:solidFill>
                  <a:srgbClr val="52586A"/>
                </a:solidFill>
                <a:latin typeface="Arial"/>
              </a:rPr>
              <a:t>Billions of weighted nodes, loosely modeled on neurons. The trained weights are the model.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2148840"/>
            <a:ext cx="361188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2148840"/>
            <a:ext cx="3611880" cy="54864"/>
          </a:xfrm>
          <a:prstGeom prst="rect">
            <a:avLst/>
          </a:prstGeom>
          <a:solidFill>
            <a:srgbClr val="7B4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62272" y="2331720"/>
            <a:ext cx="3300984" cy="1152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1" i="0" spc="140">
                <a:solidFill>
                  <a:srgbClr val="7B4F00"/>
                </a:solidFill>
                <a:latin typeface="Arial"/>
              </a:rPr>
              <a:t>ONCE, EXPENSIVE</a:t>
            </a:r>
          </a:p>
          <a:p>
            <a:pPr>
              <a:spcBef>
                <a:spcPts val="300"/>
              </a:spcBef>
            </a:pPr>
            <a:r>
              <a:rPr sz="1300" b="1" i="0">
                <a:solidFill>
                  <a:srgbClr val="1A1C22"/>
                </a:solidFill>
                <a:latin typeface="Arial"/>
              </a:rPr>
              <a:t>Training</a:t>
            </a:r>
          </a:p>
          <a:p>
            <a:pPr>
              <a:lnSpc>
                <a:spcPct val="118000"/>
              </a:lnSpc>
              <a:spcBef>
                <a:spcPts val="400"/>
              </a:spcBef>
            </a:pPr>
            <a:r>
              <a:rPr sz="1100" b="0" i="0">
                <a:solidFill>
                  <a:srgbClr val="52586A"/>
                </a:solidFill>
                <a:latin typeface="Arial"/>
              </a:rPr>
              <a:t>Weights are tuned across vast data to minimize error. Knowledge is baked into the weights.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2148840"/>
            <a:ext cx="361188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92440" y="2148840"/>
            <a:ext cx="3611880" cy="54864"/>
          </a:xfrm>
          <a:prstGeom prst="rect">
            <a:avLst/>
          </a:prstGeom>
          <a:solidFill>
            <a:srgbClr val="1A5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57032" y="2331720"/>
            <a:ext cx="3300984" cy="1152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1" i="0" spc="140">
                <a:solidFill>
                  <a:srgbClr val="1A5E38"/>
                </a:solidFill>
                <a:latin typeface="Arial"/>
              </a:rPr>
              <a:t>EVERY PROMPT</a:t>
            </a:r>
          </a:p>
          <a:p>
            <a:pPr>
              <a:spcBef>
                <a:spcPts val="300"/>
              </a:spcBef>
            </a:pPr>
            <a:r>
              <a:rPr sz="1300" b="1" i="0">
                <a:solidFill>
                  <a:srgbClr val="1A1C22"/>
                </a:solidFill>
                <a:latin typeface="Arial"/>
              </a:rPr>
              <a:t>Inference</a:t>
            </a:r>
          </a:p>
          <a:p>
            <a:pPr>
              <a:lnSpc>
                <a:spcPct val="118000"/>
              </a:lnSpc>
              <a:spcBef>
                <a:spcPts val="400"/>
              </a:spcBef>
            </a:pPr>
            <a:r>
              <a:rPr sz="1100" b="0" i="0">
                <a:solidFill>
                  <a:srgbClr val="52586A"/>
                </a:solidFill>
                <a:latin typeface="Arial"/>
              </a:rPr>
              <a:t>The trained model predicts the next token from your context. Cheap, constant -- this is each prompt.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794760"/>
            <a:ext cx="11155680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794760"/>
            <a:ext cx="64008" cy="67665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952" y="3794760"/>
            <a:ext cx="106984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150" b="1" i="0">
                <a:solidFill>
                  <a:srgbClr val="1A1C22"/>
                </a:solidFill>
                <a:latin typeface="Arial"/>
              </a:rPr>
              <a:t>Transparency is impossible</a:t>
            </a:r>
            <a:r>
              <a:rPr sz="1150" b="1" i="0">
                <a:solidFill>
                  <a:srgbClr val="0070C0"/>
                </a:solidFill>
                <a:latin typeface="Arial"/>
              </a:rPr>
              <a:t>  --  </a:t>
            </a:r>
            <a:r>
              <a:rPr sz="1100" b="0" i="0">
                <a:solidFill>
                  <a:srgbClr val="52586A"/>
                </a:solidFill>
                <a:latin typeface="Arial"/>
              </a:rPr>
              <a:t>Billions of nodes and trillions of operations mean you cannot know exactly what went wrong. We refocus on outcomes -- eval sets.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562856"/>
            <a:ext cx="11155680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4562856"/>
            <a:ext cx="64008" cy="67665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" y="4562856"/>
            <a:ext cx="106984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150" b="1" i="0">
                <a:solidFill>
                  <a:srgbClr val="1A1C22"/>
                </a:solidFill>
                <a:latin typeface="Arial"/>
              </a:rPr>
              <a:t>Hallucination is a feature, not a bug</a:t>
            </a:r>
            <a:r>
              <a:rPr sz="1150" b="1" i="0">
                <a:solidFill>
                  <a:srgbClr val="0070C0"/>
                </a:solidFill>
                <a:latin typeface="Arial"/>
              </a:rPr>
              <a:t>  --  </a:t>
            </a:r>
            <a:r>
              <a:rPr sz="1100" b="0" i="0">
                <a:solidFill>
                  <a:srgbClr val="52586A"/>
                </a:solidFill>
                <a:latin typeface="Arial"/>
              </a:rPr>
              <a:t>It is the same generative mechanism that makes the model useful in the first place.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330952"/>
            <a:ext cx="11155680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5330952"/>
            <a:ext cx="64008" cy="67665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" y="5330952"/>
            <a:ext cx="106984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150" b="1" i="0">
                <a:solidFill>
                  <a:srgbClr val="1A1C22"/>
                </a:solidFill>
                <a:latin typeface="Arial"/>
              </a:rPr>
              <a:t>Context is volatile memory</a:t>
            </a:r>
            <a:r>
              <a:rPr sz="1150" b="1" i="0">
                <a:solidFill>
                  <a:srgbClr val="0070C0"/>
                </a:solidFill>
                <a:latin typeface="Arial"/>
              </a:rPr>
              <a:t>  --  </a:t>
            </a:r>
            <a:r>
              <a:rPr sz="1100" b="0" i="0">
                <a:solidFill>
                  <a:srgbClr val="52586A"/>
                </a:solidFill>
                <a:latin typeface="Arial"/>
              </a:rPr>
              <a:t>The model's knowledge lives in its weights; your domain data sits on top via RAG (Claude does this).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 spc="220">
                <a:solidFill>
                  <a:srgbClr val="0070C0"/>
                </a:solidFill>
                <a:latin typeface="Arial"/>
              </a:rPr>
              <a:t>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300" b="0" i="0">
                <a:solidFill>
                  <a:srgbClr val="1A1C22"/>
                </a:solidFill>
                <a:latin typeface="Georgia"/>
              </a:rPr>
              <a:t>Data maturity will never </a:t>
            </a:r>
            <a:r>
              <a:rPr sz="3300" b="0" i="0">
                <a:solidFill>
                  <a:srgbClr val="0070C0"/>
                </a:solidFill>
                <a:latin typeface="Georgia"/>
              </a:rPr>
              <a:t>arrive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55664"/>
            <a:ext cx="11183112" cy="9525"/>
          </a:xfrm>
          <a:prstGeom prst="rect">
            <a:avLst/>
          </a:prstGeom>
          <a:solidFill>
            <a:srgbClr val="E0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0" i="0" spc="80">
                <a:solidFill>
                  <a:srgbClr val="8A93A8"/>
                </a:solidFill>
                <a:latin typeface="Arial"/>
              </a:rPr>
              <a:t>AI Implementation Strategy  .  Systems Engineering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10528"/>
            <a:ext cx="896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 spc="80">
                <a:solidFill>
                  <a:srgbClr val="8A93A8"/>
                </a:solidFill>
                <a:latin typeface="Arial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011680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011680"/>
            <a:ext cx="64008" cy="9144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2011680"/>
            <a:ext cx="106984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1" i="0">
                <a:solidFill>
                  <a:srgbClr val="1A1C22"/>
                </a:solidFill>
                <a:latin typeface="Arial"/>
              </a:rPr>
              <a:t>Stop waiting five years</a:t>
            </a:r>
            <a:r>
              <a:rPr sz="1250" b="1" i="0">
                <a:solidFill>
                  <a:srgbClr val="0070C0"/>
                </a:solidFill>
                <a:latin typeface="Arial"/>
              </a:rPr>
              <a:t>  --  </a:t>
            </a:r>
            <a:r>
              <a:rPr sz="1200" b="0" i="0">
                <a:solidFill>
                  <a:srgbClr val="52586A"/>
                </a:solidFill>
                <a:latin typeface="Arial"/>
              </a:rPr>
              <a:t>We don't tell clients they'll be AI-ready in five years.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090672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090672"/>
            <a:ext cx="64008" cy="9144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3090672"/>
            <a:ext cx="106984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1" i="0">
                <a:solidFill>
                  <a:srgbClr val="1A1C22"/>
                </a:solidFill>
                <a:latin typeface="Arial"/>
              </a:rPr>
              <a:t>Build maturity from outcomes</a:t>
            </a:r>
            <a:r>
              <a:rPr sz="1250" b="1" i="0">
                <a:solidFill>
                  <a:srgbClr val="0070C0"/>
                </a:solidFill>
                <a:latin typeface="Arial"/>
              </a:rPr>
              <a:t>  --  </a:t>
            </a:r>
            <a:r>
              <a:rPr sz="1200" b="0" i="0">
                <a:solidFill>
                  <a:srgbClr val="52586A"/>
                </a:solidFill>
                <a:latin typeface="Arial"/>
              </a:rPr>
              <a:t>You evaluate outputs, generate synthetic data on what good output looks like, and log everything. That log becomes your mature data -- and AI does the work.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169664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4169664"/>
            <a:ext cx="64008" cy="9144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952" y="4169664"/>
            <a:ext cx="106984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1" i="0">
                <a:solidFill>
                  <a:srgbClr val="1A1C22"/>
                </a:solidFill>
                <a:latin typeface="Arial"/>
              </a:rPr>
              <a:t>Garbage in, garbage out -- still real</a:t>
            </a:r>
            <a:r>
              <a:rPr sz="1250" b="1" i="0">
                <a:solidFill>
                  <a:srgbClr val="0070C0"/>
                </a:solidFill>
                <a:latin typeface="Arial"/>
              </a:rPr>
              <a:t>  --  </a:t>
            </a:r>
            <a:r>
              <a:rPr sz="1200" b="0" i="0">
                <a:solidFill>
                  <a:srgbClr val="52586A"/>
                </a:solidFill>
                <a:latin typeface="Arial"/>
              </a:rPr>
              <a:t>But with proper data engineering you can build quality data out of garbage.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 spc="220">
                <a:solidFill>
                  <a:srgbClr val="0070C0"/>
                </a:solidFill>
                <a:latin typeface="Arial"/>
              </a:rPr>
              <a:t>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300" b="0" i="0">
                <a:solidFill>
                  <a:srgbClr val="1A1C22"/>
                </a:solidFill>
                <a:latin typeface="Georgia"/>
              </a:rPr>
              <a:t>Research &amp; </a:t>
            </a:r>
            <a:r>
              <a:rPr sz="3300" b="0" i="0">
                <a:solidFill>
                  <a:srgbClr val="0070C0"/>
                </a:solidFill>
                <a:latin typeface="Georgia"/>
              </a:rPr>
              <a:t>long conversations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572768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52586A"/>
                </a:solidFill>
                <a:latin typeface="Arial"/>
              </a:rPr>
              <a:t>Context memory is a real, manageable limitation.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55664"/>
            <a:ext cx="11183112" cy="9525"/>
          </a:xfrm>
          <a:prstGeom prst="rect">
            <a:avLst/>
          </a:prstGeom>
          <a:solidFill>
            <a:srgbClr val="E0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0" i="0" spc="80">
                <a:solidFill>
                  <a:srgbClr val="8A93A8"/>
                </a:solidFill>
                <a:latin typeface="Arial"/>
              </a:rPr>
              <a:t>AI Implementation Strategy  .  Systems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510528"/>
            <a:ext cx="896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 spc="80">
                <a:solidFill>
                  <a:srgbClr val="8A93A8"/>
                </a:solidFill>
                <a:latin typeface="Arial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40280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40280"/>
            <a:ext cx="64008" cy="914400"/>
          </a:xfrm>
          <a:prstGeom prst="rect">
            <a:avLst/>
          </a:prstGeom>
          <a:solidFill>
            <a:srgbClr val="00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2240280"/>
            <a:ext cx="106984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1" i="0">
                <a:solidFill>
                  <a:srgbClr val="1A1C22"/>
                </a:solidFill>
                <a:latin typeface="Arial"/>
              </a:rPr>
              <a:t>The model will forget</a:t>
            </a:r>
            <a:r>
              <a:rPr sz="1250" b="1" i="0">
                <a:solidFill>
                  <a:srgbClr val="006B6B"/>
                </a:solidFill>
                <a:latin typeface="Arial"/>
              </a:rPr>
              <a:t>  --  </a:t>
            </a:r>
            <a:r>
              <a:rPr sz="1200" b="0" i="0">
                <a:solidFill>
                  <a:srgbClr val="52586A"/>
                </a:solidFill>
                <a:latin typeface="Arial"/>
              </a:rPr>
              <a:t>At some point context runs out. Manage it: consolidate memory, forget specifics, or embed via RAG.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319272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3319272"/>
            <a:ext cx="64008" cy="914400"/>
          </a:xfrm>
          <a:prstGeom prst="rect">
            <a:avLst/>
          </a:prstGeom>
          <a:solidFill>
            <a:srgbClr val="00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3319272"/>
            <a:ext cx="106984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1" i="0">
                <a:solidFill>
                  <a:srgbClr val="1A1C22"/>
                </a:solidFill>
                <a:latin typeface="Arial"/>
              </a:rPr>
              <a:t>Longer chats cost more</a:t>
            </a:r>
            <a:r>
              <a:rPr sz="1250" b="1" i="0">
                <a:solidFill>
                  <a:srgbClr val="006B6B"/>
                </a:solidFill>
                <a:latin typeface="Arial"/>
              </a:rPr>
              <a:t>  --  </a:t>
            </a:r>
            <a:r>
              <a:rPr sz="1200" b="0" i="0">
                <a:solidFill>
                  <a:srgbClr val="52586A"/>
                </a:solidFill>
                <a:latin typeface="Arial"/>
              </a:rPr>
              <a:t>More information to process as the chat grows means more compute to go through 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398264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4398264"/>
            <a:ext cx="64008" cy="914400"/>
          </a:xfrm>
          <a:prstGeom prst="rect">
            <a:avLst/>
          </a:prstGeom>
          <a:solidFill>
            <a:srgbClr val="00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4398264"/>
            <a:ext cx="106984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1" i="0">
                <a:solidFill>
                  <a:srgbClr val="1A1C22"/>
                </a:solidFill>
                <a:latin typeface="Arial"/>
              </a:rPr>
              <a:t>The model doesn't know what matters to you</a:t>
            </a:r>
            <a:r>
              <a:rPr sz="1250" b="1" i="0">
                <a:solidFill>
                  <a:srgbClr val="006B6B"/>
                </a:solidFill>
                <a:latin typeface="Arial"/>
              </a:rPr>
              <a:t>  --  </a:t>
            </a:r>
            <a:r>
              <a:rPr sz="1200" b="0" i="0">
                <a:solidFill>
                  <a:srgbClr val="52586A"/>
                </a:solidFill>
                <a:latin typeface="Arial"/>
              </a:rPr>
              <a:t>A long paper with one relevant paragraph pollutes the research. Manage at input, evaluate at output, and iterate.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 spc="220">
                <a:solidFill>
                  <a:srgbClr val="0070C0"/>
                </a:solidFill>
                <a:latin typeface="Arial"/>
              </a:rPr>
              <a:t>FUNDAMENTALS  .  BARRIERS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300" b="0" i="0">
                <a:solidFill>
                  <a:srgbClr val="1A1C22"/>
                </a:solidFill>
                <a:latin typeface="Georgia"/>
              </a:rPr>
              <a:t>Non-</a:t>
            </a:r>
            <a:r>
              <a:rPr sz="3300" b="0" i="0">
                <a:solidFill>
                  <a:srgbClr val="0070C0"/>
                </a:solidFill>
                <a:latin typeface="Georgia"/>
              </a:rPr>
              <a:t>determinism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572768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52586A"/>
                </a:solidFill>
                <a:latin typeface="Arial"/>
              </a:rPr>
              <a:t>Gen AI is probabilistic by foundation -- yet robust products can be built if done properly.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55664"/>
            <a:ext cx="11183112" cy="9525"/>
          </a:xfrm>
          <a:prstGeom prst="rect">
            <a:avLst/>
          </a:prstGeom>
          <a:solidFill>
            <a:srgbClr val="E0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0" i="0" spc="80">
                <a:solidFill>
                  <a:srgbClr val="8A93A8"/>
                </a:solidFill>
                <a:latin typeface="Arial"/>
              </a:rPr>
              <a:t>AI Implementation Strategy  .  Systems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510528"/>
            <a:ext cx="896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 spc="80">
                <a:solidFill>
                  <a:srgbClr val="8A93A8"/>
                </a:solidFill>
                <a:latin typeface="Arial"/>
              </a:rP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331720"/>
            <a:ext cx="335584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331720"/>
            <a:ext cx="3355848" cy="5486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514600"/>
            <a:ext cx="3044952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  <a:p>
            <a:pPr>
              <a:spcBef>
                <a:spcPts val="300"/>
              </a:spcBef>
            </a:pPr>
            <a:r>
              <a:rPr sz="1300" b="1" i="0">
                <a:solidFill>
                  <a:srgbClr val="1A1C22"/>
                </a:solidFill>
                <a:latin typeface="Arial"/>
              </a:rPr>
              <a:t>Probabilistic by foundation</a:t>
            </a:r>
          </a:p>
          <a:p>
            <a:pPr>
              <a:lnSpc>
                <a:spcPct val="118000"/>
              </a:lnSpc>
              <a:spcBef>
                <a:spcPts val="400"/>
              </a:spcBef>
            </a:pPr>
            <a:r>
              <a:rPr sz="1100" b="0" i="0">
                <a:solidFill>
                  <a:srgbClr val="52586A"/>
                </a:solidFill>
                <a:latin typeface="Arial"/>
              </a:rPr>
              <a:t>It is not deterministic -- design for that.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6552" y="2331720"/>
            <a:ext cx="335584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6552" y="2331720"/>
            <a:ext cx="3355848" cy="5486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81144" y="2514600"/>
            <a:ext cx="3044952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  <a:p>
            <a:pPr>
              <a:spcBef>
                <a:spcPts val="300"/>
              </a:spcBef>
            </a:pPr>
            <a:r>
              <a:rPr sz="1300" b="1" i="0">
                <a:solidFill>
                  <a:srgbClr val="1A1C22"/>
                </a:solidFill>
                <a:latin typeface="Arial"/>
              </a:rPr>
              <a:t>Context engineering</a:t>
            </a:r>
          </a:p>
          <a:p>
            <a:pPr>
              <a:lnSpc>
                <a:spcPct val="118000"/>
              </a:lnSpc>
              <a:spcBef>
                <a:spcPts val="400"/>
              </a:spcBef>
            </a:pPr>
            <a:r>
              <a:rPr sz="1100" b="0" i="0">
                <a:solidFill>
                  <a:srgbClr val="52586A"/>
                </a:solidFill>
                <a:latin typeface="Arial"/>
              </a:rPr>
              <a:t>Broader than prompting: the full context is the scope.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30183" y="2331720"/>
            <a:ext cx="335584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30183" y="2331720"/>
            <a:ext cx="3355848" cy="54864"/>
          </a:xfrm>
          <a:prstGeom prst="rect">
            <a:avLst/>
          </a:prstGeom>
          <a:solidFill>
            <a:srgbClr val="00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94775" y="2514600"/>
            <a:ext cx="3044952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  <a:p>
            <a:pPr>
              <a:spcBef>
                <a:spcPts val="300"/>
              </a:spcBef>
            </a:pPr>
            <a:r>
              <a:rPr sz="1300" b="1" i="0">
                <a:solidFill>
                  <a:srgbClr val="1A1C22"/>
                </a:solidFill>
                <a:latin typeface="Arial"/>
              </a:rPr>
              <a:t>Eval sets &amp; data engineering</a:t>
            </a:r>
          </a:p>
          <a:p>
            <a:pPr>
              <a:lnSpc>
                <a:spcPct val="118000"/>
              </a:lnSpc>
              <a:spcBef>
                <a:spcPts val="400"/>
              </a:spcBef>
            </a:pPr>
            <a:r>
              <a:rPr sz="1100" b="0" i="0">
                <a:solidFill>
                  <a:srgbClr val="52586A"/>
                </a:solidFill>
                <a:latin typeface="Arial"/>
              </a:rPr>
              <a:t>The discipline that makes output trustworthy.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114800"/>
            <a:ext cx="335584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4114800"/>
            <a:ext cx="3355848" cy="54864"/>
          </a:xfrm>
          <a:prstGeom prst="rect">
            <a:avLst/>
          </a:prstGeom>
          <a:solidFill>
            <a:srgbClr val="1A5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" y="4297680"/>
            <a:ext cx="3044952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  <a:p>
            <a:pPr>
              <a:spcBef>
                <a:spcPts val="300"/>
              </a:spcBef>
            </a:pPr>
            <a:r>
              <a:rPr sz="1300" b="1" i="0">
                <a:solidFill>
                  <a:srgbClr val="1A1C22"/>
                </a:solidFill>
                <a:latin typeface="Arial"/>
              </a:rPr>
              <a:t>Closed-loop iteration</a:t>
            </a:r>
          </a:p>
          <a:p>
            <a:pPr>
              <a:lnSpc>
                <a:spcPct val="118000"/>
              </a:lnSpc>
              <a:spcBef>
                <a:spcPts val="400"/>
              </a:spcBef>
            </a:pPr>
            <a:r>
              <a:rPr sz="1100" b="0" i="0">
                <a:solidFill>
                  <a:srgbClr val="52586A"/>
                </a:solidFill>
                <a:latin typeface="Arial"/>
              </a:rPr>
              <a:t>Build the feedback loop into the product.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16552" y="4114800"/>
            <a:ext cx="335584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16552" y="4114800"/>
            <a:ext cx="3355848" cy="54864"/>
          </a:xfrm>
          <a:prstGeom prst="rect">
            <a:avLst/>
          </a:prstGeom>
          <a:solidFill>
            <a:srgbClr val="7B4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81144" y="4297680"/>
            <a:ext cx="3044952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  <a:p>
            <a:pPr>
              <a:spcBef>
                <a:spcPts val="300"/>
              </a:spcBef>
            </a:pPr>
            <a:r>
              <a:rPr sz="1300" b="1" i="0">
                <a:solidFill>
                  <a:srgbClr val="1A1C22"/>
                </a:solidFill>
                <a:latin typeface="Arial"/>
              </a:rPr>
              <a:t>Agents evaluating agents</a:t>
            </a:r>
          </a:p>
          <a:p>
            <a:pPr>
              <a:lnSpc>
                <a:spcPct val="118000"/>
              </a:lnSpc>
              <a:spcBef>
                <a:spcPts val="400"/>
              </a:spcBef>
            </a:pPr>
            <a:r>
              <a:rPr sz="1100" b="0" i="0">
                <a:solidFill>
                  <a:srgbClr val="52586A"/>
                </a:solidFill>
                <a:latin typeface="Arial"/>
              </a:rPr>
              <a:t>Models check models for calibration at scale.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330183" y="4114800"/>
            <a:ext cx="335584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330183" y="4114800"/>
            <a:ext cx="3355848" cy="54864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94775" y="4297680"/>
            <a:ext cx="3044952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  <a:p>
            <a:pPr>
              <a:spcBef>
                <a:spcPts val="300"/>
              </a:spcBef>
            </a:pPr>
            <a:r>
              <a:rPr sz="1300" b="1" i="0">
                <a:solidFill>
                  <a:srgbClr val="1A1C22"/>
                </a:solidFill>
                <a:latin typeface="Arial"/>
              </a:rPr>
              <a:t>Oversight where critical</a:t>
            </a:r>
          </a:p>
          <a:p>
            <a:pPr>
              <a:lnSpc>
                <a:spcPct val="118000"/>
              </a:lnSpc>
              <a:spcBef>
                <a:spcPts val="400"/>
              </a:spcBef>
            </a:pPr>
            <a:r>
              <a:rPr sz="1100" b="0" i="0">
                <a:solidFill>
                  <a:srgbClr val="52586A"/>
                </a:solidFill>
                <a:latin typeface="Arial"/>
              </a:rPr>
              <a:t>Human oversight is required where applications are critical.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 spc="220">
                <a:solidFill>
                  <a:srgbClr val="0070C0"/>
                </a:solidFill>
                <a:latin typeface="Arial"/>
              </a:rPr>
              <a:t>FUNDAMENTALS  .  BARRIERS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300" b="0" i="0">
                <a:solidFill>
                  <a:srgbClr val="1A1C22"/>
                </a:solidFill>
                <a:latin typeface="Georgia"/>
              </a:rPr>
              <a:t>Non-</a:t>
            </a:r>
            <a:r>
              <a:rPr sz="3300" b="0" i="0">
                <a:solidFill>
                  <a:srgbClr val="0070C0"/>
                </a:solidFill>
                <a:latin typeface="Georgia"/>
              </a:rPr>
              <a:t>creativity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55664"/>
            <a:ext cx="11183112" cy="9525"/>
          </a:xfrm>
          <a:prstGeom prst="rect">
            <a:avLst/>
          </a:prstGeom>
          <a:solidFill>
            <a:srgbClr val="E0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0" i="0" spc="80">
                <a:solidFill>
                  <a:srgbClr val="8A93A8"/>
                </a:solidFill>
                <a:latin typeface="Arial"/>
              </a:rPr>
              <a:t>AI Implementation Strategy  .  Systems Engineering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10528"/>
            <a:ext cx="896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 spc="80">
                <a:solidFill>
                  <a:srgbClr val="8A93A8"/>
                </a:solidFill>
                <a:latin typeface="Arial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377440"/>
            <a:ext cx="5440680" cy="2651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377440"/>
            <a:ext cx="64008" cy="2651760"/>
          </a:xfrm>
          <a:prstGeom prst="rect">
            <a:avLst/>
          </a:prstGeom>
          <a:solidFill>
            <a:srgbClr val="525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51760"/>
            <a:ext cx="493776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1" i="0" spc="140">
                <a:solidFill>
                  <a:srgbClr val="52586A"/>
                </a:solidFill>
                <a:latin typeface="Arial"/>
              </a:rPr>
              <a:t>THE MECHANISM</a:t>
            </a: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600" b="1" i="0">
                <a:solidFill>
                  <a:srgbClr val="1A1C22"/>
                </a:solidFill>
                <a:latin typeface="Georgia"/>
              </a:rPr>
              <a:t>At its core, AI is weighted averages.</a:t>
            </a:r>
          </a:p>
          <a:p>
            <a:pPr>
              <a:lnSpc>
                <a:spcPct val="120000"/>
              </a:lnSpc>
              <a:spcBef>
                <a:spcPts val="800"/>
              </a:spcBef>
            </a:pPr>
            <a:r>
              <a:rPr sz="1250" b="0" i="0">
                <a:solidFill>
                  <a:srgbClr val="52586A"/>
                </a:solidFill>
                <a:latin typeface="Arial"/>
              </a:rPr>
              <a:t>It is not, by construction, likely to be truly creative.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2377440"/>
            <a:ext cx="5440680" cy="2651760"/>
          </a:xfrm>
          <a:prstGeom prst="roundRect">
            <a:avLst>
              <a:gd name="adj" fmla="val 4000"/>
            </a:avLst>
          </a:prstGeom>
          <a:solidFill>
            <a:srgbClr val="E6EEF7"/>
          </a:solidFill>
          <a:ln w="15875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45352" y="2377440"/>
            <a:ext cx="64008" cy="265176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9672" y="2651760"/>
            <a:ext cx="493776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1" i="0" spc="140">
                <a:solidFill>
                  <a:srgbClr val="0070C0"/>
                </a:solidFill>
                <a:latin typeface="Arial"/>
              </a:rPr>
              <a:t>I ARGUE</a:t>
            </a: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600" b="1" i="0">
                <a:solidFill>
                  <a:srgbClr val="002060"/>
                </a:solidFill>
                <a:latin typeface="Georgia"/>
              </a:rPr>
              <a:t>Knowledge is always modular.</a:t>
            </a:r>
          </a:p>
          <a:p>
            <a:pPr>
              <a:lnSpc>
                <a:spcPct val="120000"/>
              </a:lnSpc>
              <a:spcBef>
                <a:spcPts val="800"/>
              </a:spcBef>
            </a:pPr>
            <a:r>
              <a:rPr sz="1250" b="0" i="0">
                <a:solidFill>
                  <a:srgbClr val="0D3060"/>
                </a:solidFill>
                <a:latin typeface="Arial"/>
              </a:rPr>
              <a:t>How you combine it is where the creativity lives -- and that is human work.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331720"/>
            <a:ext cx="457200" cy="5486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74519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 spc="220">
                <a:solidFill>
                  <a:srgbClr val="0070C0"/>
                </a:solidFill>
                <a:latin typeface="Arial"/>
              </a:rPr>
              <a:t>SECTION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06040"/>
            <a:ext cx="10972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600" b="0" i="0">
                <a:solidFill>
                  <a:srgbClr val="FFFFFF"/>
                </a:solidFill>
                <a:latin typeface="Georgia"/>
              </a:rPr>
              <a:t>Building </a:t>
            </a:r>
            <a:r>
              <a:rPr sz="4600" b="0" i="0">
                <a:solidFill>
                  <a:srgbClr val="0070C0"/>
                </a:solidFill>
                <a:latin typeface="Georgia"/>
              </a:rPr>
              <a:t>Products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7" y="3977639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 i="0">
                <a:solidFill>
                  <a:srgbClr val="8A93A8"/>
                </a:solidFill>
                <a:latin typeface="Arial"/>
              </a:rPr>
              <a:t>Agents, applications &amp; more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00800"/>
            <a:ext cx="896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 spc="80">
                <a:solidFill>
                  <a:srgbClr val="4A5270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 spc="220">
                <a:solidFill>
                  <a:srgbClr val="0070C0"/>
                </a:solidFill>
                <a:latin typeface="Arial"/>
              </a:rPr>
              <a:t>BUILDING PRODUCTS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300" b="0" i="0">
                <a:solidFill>
                  <a:srgbClr val="1A1C22"/>
                </a:solidFill>
                <a:latin typeface="Georgia"/>
              </a:rPr>
              <a:t>The good news for the </a:t>
            </a:r>
            <a:r>
              <a:rPr sz="3300" b="0" i="0">
                <a:solidFill>
                  <a:srgbClr val="0070C0"/>
                </a:solidFill>
                <a:latin typeface="Georgia"/>
              </a:rPr>
              <a:t>systems engineer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572768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52586A"/>
                </a:solidFill>
                <a:latin typeface="Arial"/>
              </a:rPr>
              <a:t>Your existing instincts transfer directly -- here is what to add.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55664"/>
            <a:ext cx="11183112" cy="9525"/>
          </a:xfrm>
          <a:prstGeom prst="rect">
            <a:avLst/>
          </a:prstGeom>
          <a:solidFill>
            <a:srgbClr val="E0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0" i="0" spc="80">
                <a:solidFill>
                  <a:srgbClr val="8A93A8"/>
                </a:solidFill>
                <a:latin typeface="Arial"/>
              </a:rPr>
              <a:t>AI Implementation Strategy  .  Systems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510528"/>
            <a:ext cx="896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 spc="80">
                <a:solidFill>
                  <a:srgbClr val="8A93A8"/>
                </a:solidFill>
                <a:latin typeface="Arial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86000"/>
            <a:ext cx="5029200" cy="3383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86000"/>
            <a:ext cx="5029200" cy="54864"/>
          </a:xfrm>
          <a:prstGeom prst="rect">
            <a:avLst/>
          </a:prstGeom>
          <a:solidFill>
            <a:srgbClr val="1A5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487168"/>
            <a:ext cx="46177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 spc="120">
                <a:solidFill>
                  <a:srgbClr val="1A5E38"/>
                </a:solidFill>
                <a:latin typeface="Arial"/>
              </a:rPr>
              <a:t>YOU ALREADY UNDERSTAND</a:t>
            </a:r>
          </a:p>
          <a:p>
            <a:pPr>
              <a:lnSpc>
                <a:spcPct val="118000"/>
              </a:lnSpc>
              <a:spcBef>
                <a:spcPts val="900"/>
              </a:spcBef>
            </a:pPr>
            <a:r>
              <a:rPr sz="1200" b="1" i="0">
                <a:solidFill>
                  <a:srgbClr val="1A5E38"/>
                </a:solidFill>
                <a:latin typeface="Arial"/>
              </a:rPr>
              <a:t>checkmark  </a:t>
            </a:r>
            <a:r>
              <a:rPr sz="1200" b="0" i="0">
                <a:solidFill>
                  <a:srgbClr val="1A1C22"/>
                </a:solidFill>
                <a:latin typeface="Arial"/>
              </a:rPr>
              <a:t>Modular architecture -- a black-box view of a system or component is fine</a:t>
            </a:r>
          </a:p>
          <a:p>
            <a:pPr>
              <a:lnSpc>
                <a:spcPct val="118000"/>
              </a:lnSpc>
              <a:spcBef>
                <a:spcPts val="900"/>
              </a:spcBef>
            </a:pPr>
            <a:r>
              <a:rPr sz="1200" b="1" i="0">
                <a:solidFill>
                  <a:srgbClr val="1A5E38"/>
                </a:solidFill>
                <a:latin typeface="Arial"/>
              </a:rPr>
              <a:t>checkmark  </a:t>
            </a:r>
            <a:r>
              <a:rPr sz="1200" b="0" i="0">
                <a:solidFill>
                  <a:srgbClr val="1A1C22"/>
                </a:solidFill>
                <a:latin typeface="Arial"/>
              </a:rPr>
              <a:t>Interface problems</a:t>
            </a:r>
          </a:p>
          <a:p>
            <a:pPr>
              <a:lnSpc>
                <a:spcPct val="118000"/>
              </a:lnSpc>
              <a:spcBef>
                <a:spcPts val="900"/>
              </a:spcBef>
            </a:pPr>
            <a:r>
              <a:rPr sz="1200" b="1" i="0">
                <a:solidFill>
                  <a:srgbClr val="1A5E38"/>
                </a:solidFill>
                <a:latin typeface="Arial"/>
              </a:rPr>
              <a:t>checkmark  </a:t>
            </a:r>
            <a:r>
              <a:rPr sz="1200" b="0" i="0">
                <a:solidFill>
                  <a:srgbClr val="1A1C22"/>
                </a:solidFill>
                <a:latin typeface="Arial"/>
              </a:rPr>
              <a:t>Development cycles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2286000"/>
            <a:ext cx="5833872" cy="3383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852160" y="2286000"/>
            <a:ext cx="5833872" cy="5486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0760" y="2487168"/>
            <a:ext cx="5422392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 spc="120">
                <a:solidFill>
                  <a:srgbClr val="0070C0"/>
                </a:solidFill>
                <a:latin typeface="Arial"/>
              </a:rPr>
              <a:t>I ADVISE</a:t>
            </a:r>
          </a:p>
          <a:p>
            <a:pPr>
              <a:lnSpc>
                <a:spcPct val="113000"/>
              </a:lnSpc>
              <a:spcBef>
                <a:spcPts val="600"/>
              </a:spcBef>
            </a:pPr>
            <a:r>
              <a:rPr sz="1100" b="1" i="0">
                <a:solidFill>
                  <a:srgbClr val="0070C0"/>
                </a:solidFill>
                <a:latin typeface="Arial"/>
              </a:rPr>
              <a:t>-&gt;  </a:t>
            </a:r>
            <a:r>
              <a:rPr sz="1080" b="0" i="0">
                <a:solidFill>
                  <a:srgbClr val="52586A"/>
                </a:solidFill>
                <a:latin typeface="Arial"/>
              </a:rPr>
              <a:t>Learn what modules and platforms exist -- and how to discover them; the field moves daily and you can't keep up without leaning on AI</a:t>
            </a:r>
          </a:p>
          <a:p>
            <a:pPr>
              <a:lnSpc>
                <a:spcPct val="113000"/>
              </a:lnSpc>
              <a:spcBef>
                <a:spcPts val="600"/>
              </a:spcBef>
            </a:pPr>
            <a:r>
              <a:rPr sz="1100" b="1" i="0">
                <a:solidFill>
                  <a:srgbClr val="0070C0"/>
                </a:solidFill>
                <a:latin typeface="Arial"/>
              </a:rPr>
              <a:t>-&gt;  </a:t>
            </a:r>
            <a:r>
              <a:rPr sz="1080" b="0" i="0">
                <a:solidFill>
                  <a:srgbClr val="52586A"/>
                </a:solidFill>
                <a:latin typeface="Arial"/>
              </a:rPr>
              <a:t>Know which problems aren't worth solving, or are too expensive -- and why</a:t>
            </a:r>
          </a:p>
          <a:p>
            <a:pPr>
              <a:lnSpc>
                <a:spcPct val="113000"/>
              </a:lnSpc>
              <a:spcBef>
                <a:spcPts val="600"/>
              </a:spcBef>
            </a:pPr>
            <a:r>
              <a:rPr sz="1100" b="1" i="0">
                <a:solidFill>
                  <a:srgbClr val="0070C0"/>
                </a:solidFill>
                <a:latin typeface="Arial"/>
              </a:rPr>
              <a:t>-&gt;  </a:t>
            </a:r>
            <a:r>
              <a:rPr sz="1080" b="0" i="0">
                <a:solidFill>
                  <a:srgbClr val="52586A"/>
                </a:solidFill>
                <a:latin typeface="Arial"/>
              </a:rPr>
              <a:t>Adopt wider scopes -- ideation-to-product is a reality now</a:t>
            </a:r>
          </a:p>
          <a:p>
            <a:pPr>
              <a:lnSpc>
                <a:spcPct val="113000"/>
              </a:lnSpc>
              <a:spcBef>
                <a:spcPts val="600"/>
              </a:spcBef>
            </a:pPr>
            <a:r>
              <a:rPr sz="1100" b="1" i="0">
                <a:solidFill>
                  <a:srgbClr val="0070C0"/>
                </a:solidFill>
                <a:latin typeface="Arial"/>
              </a:rPr>
              <a:t>-&gt;  </a:t>
            </a:r>
            <a:r>
              <a:rPr sz="1080" b="0" i="0">
                <a:solidFill>
                  <a:srgbClr val="52586A"/>
                </a:solidFill>
                <a:latin typeface="Arial"/>
              </a:rPr>
              <a:t>Build for yourself and your team -- most builders need a domain expert, and most domain experts need a builder. That barrier has never been lower</a:t>
            </a:r>
          </a:p>
          <a:p>
            <a:pPr>
              <a:lnSpc>
                <a:spcPct val="113000"/>
              </a:lnSpc>
              <a:spcBef>
                <a:spcPts val="600"/>
              </a:spcBef>
            </a:pPr>
            <a:r>
              <a:rPr sz="1100" b="1" i="0">
                <a:solidFill>
                  <a:srgbClr val="0070C0"/>
                </a:solidFill>
                <a:latin typeface="Arial"/>
              </a:rPr>
              <a:t>-&gt;  </a:t>
            </a:r>
            <a:r>
              <a:rPr sz="1080" b="0" i="0">
                <a:solidFill>
                  <a:srgbClr val="52586A"/>
                </a:solidFill>
                <a:latin typeface="Arial"/>
              </a:rPr>
              <a:t>Build around the technology's limits with proper architecture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 spc="220">
                <a:solidFill>
                  <a:srgbClr val="0070C0"/>
                </a:solidFill>
                <a:latin typeface="Arial"/>
              </a:rPr>
              <a:t>BUILDING PRODUCTS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300" b="0" i="0">
                <a:solidFill>
                  <a:srgbClr val="1A1C22"/>
                </a:solidFill>
                <a:latin typeface="Georgia"/>
              </a:rPr>
              <a:t>The </a:t>
            </a:r>
            <a:r>
              <a:rPr sz="3300" b="0" i="0">
                <a:solidFill>
                  <a:srgbClr val="0070C0"/>
                </a:solidFill>
                <a:latin typeface="Georgia"/>
              </a:rPr>
              <a:t>interface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572768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52586A"/>
                </a:solidFill>
                <a:latin typeface="Arial"/>
              </a:rPr>
              <a:t>A great deal of value comes from integration -- and you lose it on a subpar platform.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55664"/>
            <a:ext cx="11183112" cy="9525"/>
          </a:xfrm>
          <a:prstGeom prst="rect">
            <a:avLst/>
          </a:prstGeom>
          <a:solidFill>
            <a:srgbClr val="E0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0" i="0" spc="80">
                <a:solidFill>
                  <a:srgbClr val="8A93A8"/>
                </a:solidFill>
                <a:latin typeface="Arial"/>
              </a:rPr>
              <a:t>AI Implementation Strategy  .  Systems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510528"/>
            <a:ext cx="896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 spc="80">
                <a:solidFill>
                  <a:srgbClr val="8A93A8"/>
                </a:solidFill>
                <a:latin typeface="Arial"/>
              </a:rP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40280"/>
            <a:ext cx="1115568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40280"/>
            <a:ext cx="64008" cy="658368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2240280"/>
            <a:ext cx="106984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150" b="1" i="0">
                <a:solidFill>
                  <a:srgbClr val="1A1C22"/>
                </a:solidFill>
                <a:latin typeface="Arial"/>
              </a:rPr>
              <a:t>If an app won't talk to you, it's probably not worth it</a:t>
            </a:r>
            <a:r>
              <a:rPr sz="1150" b="1" i="0">
                <a:solidFill>
                  <a:srgbClr val="0070C0"/>
                </a:solidFill>
                <a:latin typeface="Arial"/>
              </a:rPr>
              <a:t>  --  </a:t>
            </a:r>
            <a:r>
              <a:rPr sz="1080" b="0" i="0">
                <a:solidFill>
                  <a:srgbClr val="52586A"/>
                </a:solidFill>
                <a:latin typeface="Arial"/>
              </a:rPr>
              <a:t>The willingness to integrate is itself a signal of value.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990088"/>
            <a:ext cx="1115568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990088"/>
            <a:ext cx="64008" cy="658368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2990088"/>
            <a:ext cx="106984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150" b="1" i="0">
                <a:solidFill>
                  <a:srgbClr val="1A1C22"/>
                </a:solidFill>
                <a:latin typeface="Arial"/>
              </a:rPr>
              <a:t>Intermediary formats bridge the gap</a:t>
            </a:r>
            <a:r>
              <a:rPr sz="1150" b="1" i="0">
                <a:solidFill>
                  <a:srgbClr val="0070C0"/>
                </a:solidFill>
                <a:latin typeface="Arial"/>
              </a:rPr>
              <a:t>  --  </a:t>
            </a:r>
            <a:r>
              <a:rPr sz="1080" b="0" i="0">
                <a:solidFill>
                  <a:srgbClr val="52586A"/>
                </a:solidFill>
                <a:latin typeface="Arial"/>
              </a:rPr>
              <a:t>Excel is the lingua franca between tools that don't otherwise connect.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739896"/>
            <a:ext cx="1115568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3739896"/>
            <a:ext cx="64008" cy="658368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3739896"/>
            <a:ext cx="106984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150" b="1" i="0">
                <a:solidFill>
                  <a:srgbClr val="1A1C22"/>
                </a:solidFill>
                <a:latin typeface="Arial"/>
              </a:rPr>
              <a:t>Integration is where value lives</a:t>
            </a:r>
            <a:r>
              <a:rPr sz="1150" b="1" i="0">
                <a:solidFill>
                  <a:srgbClr val="0070C0"/>
                </a:solidFill>
                <a:latin typeface="Arial"/>
              </a:rPr>
              <a:t>  --  </a:t>
            </a:r>
            <a:r>
              <a:rPr sz="1080" b="0" i="0">
                <a:solidFill>
                  <a:srgbClr val="52586A"/>
                </a:solidFill>
                <a:latin typeface="Arial"/>
              </a:rPr>
              <a:t>Claude has invested heavily in interfaces; Gemini binds to the Google ecosystem.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489704"/>
            <a:ext cx="1115568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4489704"/>
            <a:ext cx="64008" cy="658368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952" y="4489704"/>
            <a:ext cx="106984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150" b="1" i="0">
                <a:solidFill>
                  <a:srgbClr val="1A1C22"/>
                </a:solidFill>
                <a:latin typeface="Arial"/>
              </a:rPr>
              <a:t>Fully-autonomous computer-use agents -- the maximal end</a:t>
            </a:r>
            <a:r>
              <a:rPr sz="1150" b="1" i="0">
                <a:solidFill>
                  <a:srgbClr val="0070C0"/>
                </a:solidFill>
                <a:latin typeface="Arial"/>
              </a:rPr>
              <a:t>  --  </a:t>
            </a:r>
            <a:r>
              <a:rPr sz="1080" b="0" i="0">
                <a:solidFill>
                  <a:srgbClr val="52586A"/>
                </a:solidFill>
                <a:latin typeface="Arial"/>
              </a:rPr>
              <a:t>Open-source computer-use frameworks that drive your entire desktop and browser with minimal guardrails: maximal power, maximal setup and oversight burden -- beyond what most teams need today.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239512"/>
            <a:ext cx="1115568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5239512"/>
            <a:ext cx="64008" cy="658368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" y="5239512"/>
            <a:ext cx="106984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150" b="1" i="0">
                <a:solidFill>
                  <a:srgbClr val="1A1C22"/>
                </a:solidFill>
                <a:latin typeface="Arial"/>
              </a:rPr>
              <a:t>A bare LLM wrapper loses all of this</a:t>
            </a:r>
            <a:r>
              <a:rPr sz="1150" b="1" i="0">
                <a:solidFill>
                  <a:srgbClr val="0070C0"/>
                </a:solidFill>
                <a:latin typeface="Arial"/>
              </a:rPr>
              <a:t>  --  </a:t>
            </a:r>
            <a:r>
              <a:rPr sz="1080" b="0" i="0">
                <a:solidFill>
                  <a:srgbClr val="52586A"/>
                </a:solidFill>
                <a:latin typeface="Arial"/>
              </a:rPr>
              <a:t>On a subpar platform that just calls the model, the integration value is gone.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 spc="220">
                <a:solidFill>
                  <a:srgbClr val="0070C0"/>
                </a:solidFill>
                <a:latin typeface="Arial"/>
              </a:rPr>
              <a:t>BUILDING PRODUCTS  .  INTERFACES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300" b="0" i="0">
                <a:solidFill>
                  <a:srgbClr val="1A1C22"/>
                </a:solidFill>
                <a:latin typeface="Georgia"/>
              </a:rPr>
              <a:t>Claude </a:t>
            </a:r>
            <a:r>
              <a:rPr sz="3300" b="0" i="0">
                <a:solidFill>
                  <a:srgbClr val="0070C0"/>
                </a:solidFill>
                <a:latin typeface="Georgia"/>
              </a:rPr>
              <a:t>Chat . Cowork .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572768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52586A"/>
                </a:solidFill>
                <a:latin typeface="Arial"/>
              </a:rPr>
              <a:t>What can actually interface with your work -- the dimension I care about most.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55664"/>
            <a:ext cx="11183112" cy="9525"/>
          </a:xfrm>
          <a:prstGeom prst="rect">
            <a:avLst/>
          </a:prstGeom>
          <a:solidFill>
            <a:srgbClr val="E0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0" i="0" spc="80">
                <a:solidFill>
                  <a:srgbClr val="8A93A8"/>
                </a:solidFill>
                <a:latin typeface="Arial"/>
              </a:rPr>
              <a:t>AI Implementation Strategy  .  Systems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510528"/>
            <a:ext cx="896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 spc="80">
                <a:solidFill>
                  <a:srgbClr val="8A93A8"/>
                </a:solidFill>
                <a:latin typeface="Arial"/>
              </a:rPr>
              <a:t>18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2194560"/>
          <a:ext cx="11183112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807208"/>
                <a:gridCol w="2816352"/>
                <a:gridCol w="2816352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EEF2F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91440" marR="54864" marT="36576" marB="36576" anchor="ctr">
                    <a:solidFill>
                      <a:srgbClr val="1A1C2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EEF2FA"/>
                          </a:solidFill>
                          <a:latin typeface="Arial"/>
                        </a:rPr>
                        <a:t>Claude Chat</a:t>
                      </a:r>
                    </a:p>
                  </a:txBody>
                  <a:tcPr marL="91440" marR="54864" marT="36576" marB="36576" anchor="ctr">
                    <a:solidFill>
                      <a:srgbClr val="1A1C2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EEF2FA"/>
                          </a:solidFill>
                          <a:latin typeface="Arial"/>
                        </a:rPr>
                        <a:t>Claude Cowork</a:t>
                      </a:r>
                    </a:p>
                  </a:txBody>
                  <a:tcPr marL="91440" marR="54864" marT="36576" marB="36576" anchor="ctr">
                    <a:solidFill>
                      <a:srgbClr val="1A1C2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0070C0"/>
                          </a:solidFill>
                          <a:latin typeface="Arial"/>
                        </a:rPr>
                        <a:t>Claude Code</a:t>
                      </a:r>
                    </a:p>
                  </a:txBody>
                  <a:tcPr marL="91440" marR="54864" marT="36576" marB="36576" anchor="ctr">
                    <a:solidFill>
                      <a:srgbClr val="1A1C22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950" b="1" i="0">
                          <a:solidFill>
                            <a:srgbClr val="002060"/>
                          </a:solidFill>
                          <a:latin typeface="Arial"/>
                        </a:rPr>
                        <a:t>Interface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52586A"/>
                          </a:solidFill>
                          <a:latin typeface="Arial"/>
                        </a:rPr>
                        <a:t>Browser, conversational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52586A"/>
                          </a:solidFill>
                          <a:latin typeface="Arial"/>
                        </a:rPr>
                        <a:t>Desktop project workspace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 i="0">
                          <a:solidFill>
                            <a:srgbClr val="0D3060"/>
                          </a:solidFill>
                          <a:latin typeface="Arial"/>
                        </a:rPr>
                        <a:t>Terminal + native desktop app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950" b="1" i="0">
                          <a:solidFill>
                            <a:srgbClr val="002060"/>
                          </a:solidFill>
                          <a:latin typeface="Arial"/>
                        </a:rPr>
                        <a:t>Connection to your systems</a:t>
                      </a:r>
                    </a:p>
                  </a:txBody>
                  <a:tcPr marL="91440" marR="54864" marT="27432" marB="27432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52586A"/>
                          </a:solidFill>
                          <a:latin typeface="Arial"/>
                        </a:rPr>
                        <a:t>None -- output only</a:t>
                      </a:r>
                    </a:p>
                  </a:txBody>
                  <a:tcPr marL="91440" marR="54864" marT="27432" marB="27432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52586A"/>
                          </a:solidFill>
                          <a:latin typeface="Arial"/>
                        </a:rPr>
                        <a:t>Selected files &amp; connectors</a:t>
                      </a:r>
                    </a:p>
                  </a:txBody>
                  <a:tcPr marL="91440" marR="54864" marT="27432" marB="27432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 i="0">
                          <a:solidFill>
                            <a:srgbClr val="0D3060"/>
                          </a:solidFill>
                          <a:latin typeface="Arial"/>
                        </a:rPr>
                        <a:t>Full -- files, apps, shell, systems</a:t>
                      </a:r>
                    </a:p>
                  </a:txBody>
                  <a:tcPr marL="91440" marR="54864" marT="27432" marB="27432" anchor="ctr"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950" b="1" i="0">
                          <a:solidFill>
                            <a:srgbClr val="002060"/>
                          </a:solidFill>
                          <a:latin typeface="Arial"/>
                        </a:rPr>
                        <a:t>Memory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52586A"/>
                          </a:solidFill>
                          <a:latin typeface="Arial"/>
                        </a:rPr>
                        <a:t>Per-conversation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52586A"/>
                          </a:solidFill>
                          <a:latin typeface="Arial"/>
                        </a:rPr>
                        <a:t>Persistent skills &amp; standards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 i="0">
                          <a:solidFill>
                            <a:srgbClr val="0D3060"/>
                          </a:solidFill>
                          <a:latin typeface="Arial"/>
                        </a:rPr>
                        <a:t>Persistent via CLAUDE.md, repo-shared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950" b="1" i="0">
                          <a:solidFill>
                            <a:srgbClr val="002060"/>
                          </a:solidFill>
                          <a:latin typeface="Arial"/>
                        </a:rPr>
                        <a:t>Files</a:t>
                      </a:r>
                    </a:p>
                  </a:txBody>
                  <a:tcPr marL="91440" marR="54864" marT="27432" marB="27432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52586A"/>
                          </a:solidFill>
                          <a:latin typeface="Arial"/>
                        </a:rPr>
                        <a:t>Attach for analysis</a:t>
                      </a:r>
                    </a:p>
                  </a:txBody>
                  <a:tcPr marL="91440" marR="54864" marT="27432" marB="27432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52586A"/>
                          </a:solidFill>
                          <a:latin typeface="Arial"/>
                        </a:rPr>
                        <a:t>Project files, some live</a:t>
                      </a:r>
                    </a:p>
                  </a:txBody>
                  <a:tcPr marL="91440" marR="54864" marT="27432" marB="27432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 i="0">
                          <a:solidFill>
                            <a:srgbClr val="0D3060"/>
                          </a:solidFill>
                          <a:latin typeface="Arial"/>
                        </a:rPr>
                        <a:t>Read / write any file directly</a:t>
                      </a:r>
                    </a:p>
                  </a:txBody>
                  <a:tcPr marL="91440" marR="54864" marT="27432" marB="27432" anchor="ctr"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950" b="1" i="0">
                          <a:solidFill>
                            <a:srgbClr val="002060"/>
                          </a:solidFill>
                          <a:latin typeface="Arial"/>
                        </a:rPr>
                        <a:t>Live Excel / PowerPoint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52586A"/>
                          </a:solidFill>
                          <a:latin typeface="Arial"/>
                        </a:rPr>
                        <a:t>Copy-paste only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52586A"/>
                          </a:solidFill>
                          <a:latin typeface="Arial"/>
                        </a:rPr>
                        <a:t>Limited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 i="0">
                          <a:solidFill>
                            <a:srgbClr val="0D3060"/>
                          </a:solidFill>
                          <a:latin typeface="Arial"/>
                        </a:rPr>
                        <a:t>Native -- no copy-paste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950" b="1" i="0">
                          <a:solidFill>
                            <a:srgbClr val="002060"/>
                          </a:solidFill>
                          <a:latin typeface="Arial"/>
                        </a:rPr>
                        <a:t>Build &amp; deploy software</a:t>
                      </a:r>
                    </a:p>
                  </a:txBody>
                  <a:tcPr marL="91440" marR="54864" marT="27432" marB="27432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52586A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91440" marR="54864" marT="27432" marB="27432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52586A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91440" marR="54864" marT="27432" marB="27432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 i="0">
                          <a:solidFill>
                            <a:srgbClr val="0D3060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91440" marR="54864" marT="27432" marB="27432" anchor="ctr"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950" b="1" i="0">
                          <a:solidFill>
                            <a:srgbClr val="002060"/>
                          </a:solidFill>
                          <a:latin typeface="Arial"/>
                        </a:rPr>
                        <a:t>Web / GitHub / Drive / MCP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52586A"/>
                          </a:solidFill>
                          <a:latin typeface="Arial"/>
                        </a:rPr>
                        <a:t>Limited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52586A"/>
                          </a:solidFill>
                          <a:latin typeface="Arial"/>
                        </a:rPr>
                        <a:t>Some connectors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 i="0">
                          <a:solidFill>
                            <a:srgbClr val="0D3060"/>
                          </a:solidFill>
                          <a:latin typeface="Arial"/>
                        </a:rPr>
                        <a:t>Full (MCP)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950" b="1" i="0">
                          <a:solidFill>
                            <a:srgbClr val="002060"/>
                          </a:solidFill>
                          <a:latin typeface="Arial"/>
                        </a:rPr>
                        <a:t>Oversight model</a:t>
                      </a:r>
                    </a:p>
                  </a:txBody>
                  <a:tcPr marL="91440" marR="54864" marT="27432" marB="27432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52586A"/>
                          </a:solidFill>
                          <a:latin typeface="Arial"/>
                        </a:rPr>
                        <a:t>Manual use of output</a:t>
                      </a:r>
                    </a:p>
                  </a:txBody>
                  <a:tcPr marL="91440" marR="54864" marT="27432" marB="27432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52586A"/>
                          </a:solidFill>
                          <a:latin typeface="Arial"/>
                        </a:rPr>
                        <a:t>Review in workspace</a:t>
                      </a:r>
                    </a:p>
                  </a:txBody>
                  <a:tcPr marL="91440" marR="54864" marT="27432" marB="27432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 i="0">
                          <a:solidFill>
                            <a:srgbClr val="0D3060"/>
                          </a:solidFill>
                          <a:latin typeface="Arial"/>
                        </a:rPr>
                        <a:t>Plan -&gt; approve before any change</a:t>
                      </a:r>
                    </a:p>
                  </a:txBody>
                  <a:tcPr marL="91440" marR="54864" marT="27432" marB="27432" anchor="ctr"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950" b="1" i="0">
                          <a:solidFill>
                            <a:srgbClr val="002060"/>
                          </a:solidFill>
                          <a:latin typeface="Arial"/>
                        </a:rPr>
                        <a:t>Best for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52586A"/>
                          </a:solidFill>
                          <a:latin typeface="Arial"/>
                        </a:rPr>
                        <a:t>Drafting, Q&amp;A, ideas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52586A"/>
                          </a:solidFill>
                          <a:latin typeface="Arial"/>
                        </a:rPr>
                        <a:t>Team standards &amp; workflows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 i="0">
                          <a:solidFill>
                            <a:srgbClr val="0D3060"/>
                          </a:solidFill>
                          <a:latin typeface="Arial"/>
                        </a:rPr>
                        <a:t>Automation, live docs, building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 spc="220">
                <a:solidFill>
                  <a:srgbClr val="0070C0"/>
                </a:solidFill>
                <a:latin typeface="Arial"/>
              </a:rPr>
              <a:t>BUILDING PRODUCTS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300" b="0" i="0">
                <a:solidFill>
                  <a:srgbClr val="1A1C22"/>
                </a:solidFill>
                <a:latin typeface="Georgia"/>
              </a:rPr>
              <a:t>The development </a:t>
            </a:r>
            <a:r>
              <a:rPr sz="3300" b="0" i="0">
                <a:solidFill>
                  <a:srgbClr val="0070C0"/>
                </a:solidFill>
                <a:latin typeface="Georgia"/>
              </a:rPr>
              <a:t>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572768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52586A"/>
                </a:solidFill>
                <a:latin typeface="Arial"/>
              </a:rPr>
              <a:t>Five phases from concept to deployed product. Evaluate loops back to Write until the eval set passes.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55664"/>
            <a:ext cx="11183112" cy="9525"/>
          </a:xfrm>
          <a:prstGeom prst="rect">
            <a:avLst/>
          </a:prstGeom>
          <a:solidFill>
            <a:srgbClr val="E0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0" i="0" spc="80">
                <a:solidFill>
                  <a:srgbClr val="8A93A8"/>
                </a:solidFill>
                <a:latin typeface="Arial"/>
              </a:rPr>
              <a:t>AI Implementation Strategy  .  Systems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510528"/>
            <a:ext cx="896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 spc="80">
                <a:solidFill>
                  <a:srgbClr val="8A93A8"/>
                </a:solidFill>
                <a:latin typeface="Arial"/>
              </a:rP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514600"/>
            <a:ext cx="1993392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22225">
            <a:solidFill>
              <a:srgbClr val="52586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514600"/>
            <a:ext cx="1993392" cy="64008"/>
          </a:xfrm>
          <a:prstGeom prst="rect">
            <a:avLst/>
          </a:prstGeom>
          <a:solidFill>
            <a:srgbClr val="525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97480"/>
            <a:ext cx="1719072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1" i="0" spc="120">
                <a:solidFill>
                  <a:srgbClr val="52586A"/>
                </a:solidFill>
                <a:latin typeface="Arial"/>
              </a:rPr>
              <a:t>OPTIONAL</a:t>
            </a:r>
          </a:p>
          <a:p>
            <a:pPr>
              <a:spcBef>
                <a:spcPts val="300"/>
              </a:spcBef>
            </a:pPr>
            <a:r>
              <a:rPr sz="1600" b="1" i="0">
                <a:solidFill>
                  <a:srgbClr val="1A1C22"/>
                </a:solidFill>
                <a:latin typeface="Georgia"/>
              </a:rPr>
              <a:t>Consult</a:t>
            </a:r>
          </a:p>
          <a:p>
            <a:pPr>
              <a:lnSpc>
                <a:spcPct val="105000"/>
              </a:lnSpc>
              <a:spcBef>
                <a:spcPts val="500"/>
              </a:spcBef>
            </a:pPr>
            <a:r>
              <a:rPr sz="900" b="0" i="0">
                <a:solidFill>
                  <a:srgbClr val="52586A"/>
                </a:solidFill>
                <a:latin typeface="Arial"/>
              </a:rPr>
              <a:t>Map the landscape when the</a:t>
            </a:r>
          </a:p>
          <a:p>
            <a:pPr>
              <a:lnSpc>
                <a:spcPct val="105000"/>
              </a:lnSpc>
            </a:pPr>
            <a:r>
              <a:rPr sz="900" b="0" i="0">
                <a:solidFill>
                  <a:srgbClr val="52586A"/>
                </a:solidFill>
                <a:latin typeface="Arial"/>
              </a:rPr>
              <a:t>solution space is unclear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96312" y="3054096"/>
            <a:ext cx="29260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9AA0B4"/>
                </a:solidFill>
                <a:latin typeface="Arial"/>
              </a:rPr>
              <a:t>-&gt;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88920" y="2514600"/>
            <a:ext cx="1993392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22225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88920" y="2514600"/>
            <a:ext cx="1993392" cy="64008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26079" y="2697480"/>
            <a:ext cx="1719072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1" i="0" spc="120">
                <a:solidFill>
                  <a:srgbClr val="0070C0"/>
                </a:solidFill>
                <a:latin typeface="Arial"/>
              </a:rPr>
              <a:t>PHASE 1</a:t>
            </a:r>
          </a:p>
          <a:p>
            <a:pPr>
              <a:spcBef>
                <a:spcPts val="300"/>
              </a:spcBef>
            </a:pPr>
            <a:r>
              <a:rPr sz="1600" b="1" i="0">
                <a:solidFill>
                  <a:srgbClr val="1A1C22"/>
                </a:solidFill>
                <a:latin typeface="Georgia"/>
              </a:rPr>
              <a:t>Think</a:t>
            </a:r>
          </a:p>
          <a:p>
            <a:pPr>
              <a:lnSpc>
                <a:spcPct val="105000"/>
              </a:lnSpc>
              <a:spcBef>
                <a:spcPts val="500"/>
              </a:spcBef>
            </a:pPr>
            <a:r>
              <a:rPr sz="900" b="0" i="0">
                <a:solidFill>
                  <a:srgbClr val="52586A"/>
                </a:solidFill>
                <a:latin typeface="Arial"/>
              </a:rPr>
              <a:t>Land the concept into a</a:t>
            </a:r>
          </a:p>
          <a:p>
            <a:pPr>
              <a:lnSpc>
                <a:spcPct val="105000"/>
              </a:lnSpc>
            </a:pPr>
            <a:r>
              <a:rPr sz="900" b="0" i="0">
                <a:solidFill>
                  <a:srgbClr val="52586A"/>
                </a:solidFill>
                <a:latin typeface="Arial"/>
              </a:rPr>
              <a:t>buildable spec + eval set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82312" y="3054096"/>
            <a:ext cx="29260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9AA0B4"/>
                </a:solidFill>
                <a:latin typeface="Arial"/>
              </a:rPr>
              <a:t>-&gt;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74920" y="2514600"/>
            <a:ext cx="1993392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2222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74920" y="2514600"/>
            <a:ext cx="1993392" cy="6400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80" y="2697480"/>
            <a:ext cx="1719072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1" i="0" spc="120">
                <a:solidFill>
                  <a:srgbClr val="002060"/>
                </a:solidFill>
                <a:latin typeface="Arial"/>
              </a:rPr>
              <a:t>PHASE 2</a:t>
            </a:r>
          </a:p>
          <a:p>
            <a:pPr>
              <a:spcBef>
                <a:spcPts val="300"/>
              </a:spcBef>
            </a:pPr>
            <a:r>
              <a:rPr sz="1600" b="1" i="0">
                <a:solidFill>
                  <a:srgbClr val="1A1C22"/>
                </a:solidFill>
                <a:latin typeface="Georgia"/>
              </a:rPr>
              <a:t>Write</a:t>
            </a:r>
          </a:p>
          <a:p>
            <a:pPr>
              <a:lnSpc>
                <a:spcPct val="105000"/>
              </a:lnSpc>
              <a:spcBef>
                <a:spcPts val="500"/>
              </a:spcBef>
            </a:pPr>
            <a:r>
              <a:rPr sz="900" b="0" i="0">
                <a:solidFill>
                  <a:srgbClr val="52586A"/>
                </a:solidFill>
                <a:latin typeface="Arial"/>
              </a:rPr>
              <a:t>Build: code, prompts, RAG,</a:t>
            </a:r>
          </a:p>
          <a:p>
            <a:pPr>
              <a:lnSpc>
                <a:spcPct val="105000"/>
              </a:lnSpc>
            </a:pPr>
            <a:r>
              <a:rPr sz="900" b="0" i="0">
                <a:solidFill>
                  <a:srgbClr val="52586A"/>
                </a:solidFill>
                <a:latin typeface="Arial"/>
              </a:rPr>
              <a:t>integrations (largest effort)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68312" y="3054096"/>
            <a:ext cx="29260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9AA0B4"/>
                </a:solidFill>
                <a:latin typeface="Arial"/>
              </a:rPr>
              <a:t>-&gt;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60920" y="2514600"/>
            <a:ext cx="1993392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22225">
            <a:solidFill>
              <a:srgbClr val="00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60920" y="2514600"/>
            <a:ext cx="1993392" cy="64008"/>
          </a:xfrm>
          <a:prstGeom prst="rect">
            <a:avLst/>
          </a:prstGeom>
          <a:solidFill>
            <a:srgbClr val="00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0" y="2697480"/>
            <a:ext cx="1719072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1" i="0" spc="120">
                <a:solidFill>
                  <a:srgbClr val="006B6B"/>
                </a:solidFill>
                <a:latin typeface="Arial"/>
              </a:rPr>
              <a:t>PHASE 3</a:t>
            </a:r>
          </a:p>
          <a:p>
            <a:pPr>
              <a:spcBef>
                <a:spcPts val="300"/>
              </a:spcBef>
            </a:pPr>
            <a:r>
              <a:rPr sz="1600" b="1" i="0">
                <a:solidFill>
                  <a:srgbClr val="1A1C22"/>
                </a:solidFill>
                <a:latin typeface="Georgia"/>
              </a:rPr>
              <a:t>Run</a:t>
            </a:r>
          </a:p>
          <a:p>
            <a:pPr>
              <a:lnSpc>
                <a:spcPct val="105000"/>
              </a:lnSpc>
              <a:spcBef>
                <a:spcPts val="500"/>
              </a:spcBef>
            </a:pPr>
            <a:r>
              <a:rPr sz="900" b="0" i="0">
                <a:solidFill>
                  <a:srgbClr val="52586A"/>
                </a:solidFill>
                <a:latin typeface="Arial"/>
              </a:rPr>
              <a:t>Deploy to the target</a:t>
            </a:r>
          </a:p>
          <a:p>
            <a:pPr>
              <a:lnSpc>
                <a:spcPct val="105000"/>
              </a:lnSpc>
            </a:pPr>
            <a:r>
              <a:rPr sz="900" b="0" i="0">
                <a:solidFill>
                  <a:srgbClr val="52586A"/>
                </a:solidFill>
                <a:latin typeface="Arial"/>
              </a:rPr>
              <a:t>environment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54312" y="3054096"/>
            <a:ext cx="29260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9AA0B4"/>
                </a:solidFill>
                <a:latin typeface="Arial"/>
              </a:rPr>
              <a:t>-&gt;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46920" y="2514600"/>
            <a:ext cx="1993392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22225">
            <a:solidFill>
              <a:srgbClr val="7B4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646920" y="2514600"/>
            <a:ext cx="1993392" cy="64008"/>
          </a:xfrm>
          <a:prstGeom prst="rect">
            <a:avLst/>
          </a:prstGeom>
          <a:solidFill>
            <a:srgbClr val="7B4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84080" y="2697480"/>
            <a:ext cx="1719072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1" i="0" spc="120">
                <a:solidFill>
                  <a:srgbClr val="7B4F00"/>
                </a:solidFill>
                <a:latin typeface="Arial"/>
              </a:rPr>
              <a:t>GATE</a:t>
            </a:r>
          </a:p>
          <a:p>
            <a:pPr>
              <a:spcBef>
                <a:spcPts val="300"/>
              </a:spcBef>
            </a:pPr>
            <a:r>
              <a:rPr sz="1600" b="1" i="0">
                <a:solidFill>
                  <a:srgbClr val="1A1C22"/>
                </a:solidFill>
                <a:latin typeface="Georgia"/>
              </a:rPr>
              <a:t>Evaluate</a:t>
            </a:r>
          </a:p>
          <a:p>
            <a:pPr>
              <a:lnSpc>
                <a:spcPct val="105000"/>
              </a:lnSpc>
              <a:spcBef>
                <a:spcPts val="500"/>
              </a:spcBef>
            </a:pPr>
            <a:r>
              <a:rPr sz="900" b="0" i="0">
                <a:solidFill>
                  <a:srgbClr val="52586A"/>
                </a:solidFill>
                <a:latin typeface="Arial"/>
              </a:rPr>
              <a:t>Test against the eval set:</a:t>
            </a:r>
          </a:p>
          <a:p>
            <a:pPr>
              <a:lnSpc>
                <a:spcPct val="105000"/>
              </a:lnSpc>
            </a:pPr>
            <a:r>
              <a:rPr sz="900" b="0" i="0">
                <a:solidFill>
                  <a:srgbClr val="52586A"/>
                </a:solidFill>
                <a:latin typeface="Arial"/>
              </a:rPr>
              <a:t>pass = done, fail = iterate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71616" y="4270248"/>
            <a:ext cx="4572000" cy="20320"/>
          </a:xfrm>
          <a:prstGeom prst="rect">
            <a:avLst/>
          </a:prstGeom>
          <a:solidFill>
            <a:srgbClr val="7B4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71616" y="3886200"/>
            <a:ext cx="20320" cy="384047"/>
          </a:xfrm>
          <a:prstGeom prst="rect">
            <a:avLst/>
          </a:prstGeom>
          <a:solidFill>
            <a:srgbClr val="7B4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643616" y="3886200"/>
            <a:ext cx="20320" cy="384047"/>
          </a:xfrm>
          <a:prstGeom prst="rect">
            <a:avLst/>
          </a:prstGeom>
          <a:solidFill>
            <a:srgbClr val="7B4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63055" y="4306824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 i="0" spc="50">
                <a:solidFill>
                  <a:srgbClr val="7B4F00"/>
                </a:solidFill>
                <a:latin typeface="Arial"/>
              </a:rPr>
              <a:t>fail  -&gt;  back to Write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486400"/>
            <a:ext cx="11183112" cy="713232"/>
          </a:xfrm>
          <a:prstGeom prst="roundRect">
            <a:avLst>
              <a:gd name="adj" fmla="val 12000"/>
            </a:avLst>
          </a:prstGeom>
          <a:solidFill>
            <a:srgbClr val="E6F4EC"/>
          </a:solidFill>
          <a:ln w="12700">
            <a:solidFill>
              <a:srgbClr val="1A5E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486400"/>
            <a:ext cx="64008" cy="713232"/>
          </a:xfrm>
          <a:prstGeom prst="rect">
            <a:avLst/>
          </a:prstGeom>
          <a:solidFill>
            <a:srgbClr val="1A5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5486400"/>
            <a:ext cx="106070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150" b="1" i="0">
                <a:solidFill>
                  <a:srgbClr val="133D25"/>
                </a:solidFill>
                <a:latin typeface="Arial"/>
              </a:rPr>
              <a:t>The eval set is drafted in Think, before a line of code. </a:t>
            </a:r>
            <a:r>
              <a:rPr sz="1150" b="0" i="0">
                <a:solidFill>
                  <a:srgbClr val="133D25"/>
                </a:solidFill>
                <a:latin typeface="Arial"/>
              </a:rPr>
              <a:t>It defines what done means -- without it there is no principled stopping condition.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 spc="220">
                <a:solidFill>
                  <a:srgbClr val="0070C0"/>
                </a:solidFill>
                <a:latin typeface="Arial"/>
              </a:rPr>
              <a:t>BUILDING PRODUCTS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300" b="0" i="0">
                <a:solidFill>
                  <a:srgbClr val="1A1C22"/>
                </a:solidFill>
                <a:latin typeface="Georgia"/>
              </a:rPr>
              <a:t>Products &amp; solutions </a:t>
            </a:r>
            <a:r>
              <a:rPr sz="3300" b="0" i="0">
                <a:solidFill>
                  <a:srgbClr val="0070C0"/>
                </a:solidFill>
                <a:latin typeface="Georgia"/>
              </a:rPr>
              <a:t>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572768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52586A"/>
                </a:solidFill>
                <a:latin typeface="Arial"/>
              </a:rPr>
              <a:t>What this looks like in practice -- built hands-on during the research project.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55664"/>
            <a:ext cx="11183112" cy="9525"/>
          </a:xfrm>
          <a:prstGeom prst="rect">
            <a:avLst/>
          </a:prstGeom>
          <a:solidFill>
            <a:srgbClr val="E0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0" i="0" spc="80">
                <a:solidFill>
                  <a:srgbClr val="8A93A8"/>
                </a:solidFill>
                <a:latin typeface="Arial"/>
              </a:rPr>
              <a:t>AI Implementation Strategy  .  Systems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510528"/>
            <a:ext cx="896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 spc="80">
                <a:solidFill>
                  <a:srgbClr val="8A93A8"/>
                </a:solidFill>
                <a:latin typeface="Arial"/>
              </a:rP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377440"/>
            <a:ext cx="361188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377440"/>
            <a:ext cx="3611880" cy="5486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560320"/>
            <a:ext cx="3300984" cy="1380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1" i="0" spc="140">
                <a:solidFill>
                  <a:srgbClr val="0070C0"/>
                </a:solidFill>
                <a:latin typeface="Arial"/>
              </a:rPr>
              <a:t>FINANCE</a:t>
            </a:r>
          </a:p>
          <a:p>
            <a:pPr>
              <a:spcBef>
                <a:spcPts val="300"/>
              </a:spcBef>
            </a:pPr>
            <a:r>
              <a:rPr sz="1300" b="1" i="0">
                <a:solidFill>
                  <a:srgbClr val="1A1C22"/>
                </a:solidFill>
                <a:latin typeface="Arial"/>
              </a:rPr>
              <a:t>Best-in-class financial models</a:t>
            </a:r>
          </a:p>
          <a:p>
            <a:pPr>
              <a:lnSpc>
                <a:spcPct val="118000"/>
              </a:lnSpc>
              <a:spcBef>
                <a:spcPts val="400"/>
              </a:spcBef>
            </a:pPr>
            <a:r>
              <a:rPr sz="1100" b="0" i="0">
                <a:solidFill>
                  <a:srgbClr val="52586A"/>
                </a:solidFill>
                <a:latin typeface="Arial"/>
              </a:rPr>
              <a:t>Built in Excel; assumptions can be queried and challenged directly in the sheet.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8536" y="2377440"/>
            <a:ext cx="361188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8536" y="2377440"/>
            <a:ext cx="3611880" cy="5486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53128" y="2560320"/>
            <a:ext cx="3300984" cy="1380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1" i="0" spc="140">
                <a:solidFill>
                  <a:srgbClr val="002060"/>
                </a:solidFill>
                <a:latin typeface="Arial"/>
              </a:rPr>
              <a:t>MULTIMODAL</a:t>
            </a:r>
          </a:p>
          <a:p>
            <a:pPr>
              <a:spcBef>
                <a:spcPts val="300"/>
              </a:spcBef>
            </a:pPr>
            <a:r>
              <a:rPr sz="1300" b="1" i="0">
                <a:solidFill>
                  <a:srgbClr val="1A1C22"/>
                </a:solidFill>
                <a:latin typeface="Arial"/>
              </a:rPr>
              <a:t>Data transformations</a:t>
            </a:r>
          </a:p>
          <a:p>
            <a:pPr>
              <a:lnSpc>
                <a:spcPct val="118000"/>
              </a:lnSpc>
              <a:spcBef>
                <a:spcPts val="400"/>
              </a:spcBef>
            </a:pPr>
            <a:r>
              <a:rPr sz="1100" b="0" i="0">
                <a:solidFill>
                  <a:srgbClr val="52586A"/>
                </a:solidFill>
                <a:latin typeface="Arial"/>
              </a:rPr>
              <a:t>Across text, speech and video -- converting between formats and modalities.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74152" y="2377440"/>
            <a:ext cx="361188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74152" y="2377440"/>
            <a:ext cx="3611880" cy="54864"/>
          </a:xfrm>
          <a:prstGeom prst="rect">
            <a:avLst/>
          </a:prstGeom>
          <a:solidFill>
            <a:srgbClr val="00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38744" y="2560320"/>
            <a:ext cx="3300984" cy="1380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1" i="0" spc="140">
                <a:solidFill>
                  <a:srgbClr val="006B6B"/>
                </a:solidFill>
                <a:latin typeface="Arial"/>
              </a:rPr>
              <a:t>RAG</a:t>
            </a:r>
          </a:p>
          <a:p>
            <a:pPr>
              <a:spcBef>
                <a:spcPts val="300"/>
              </a:spcBef>
            </a:pPr>
            <a:r>
              <a:rPr sz="1300" b="1" i="0">
                <a:solidFill>
                  <a:srgbClr val="1A1C22"/>
                </a:solidFill>
                <a:latin typeface="Arial"/>
              </a:rPr>
              <a:t>Local-LLM document RAG</a:t>
            </a:r>
          </a:p>
          <a:p>
            <a:pPr>
              <a:lnSpc>
                <a:spcPct val="118000"/>
              </a:lnSpc>
              <a:spcBef>
                <a:spcPts val="400"/>
              </a:spcBef>
            </a:pPr>
            <a:r>
              <a:rPr sz="1100" b="0" i="0">
                <a:solidFill>
                  <a:srgbClr val="52586A"/>
                </a:solidFill>
                <a:latin typeface="Arial"/>
              </a:rPr>
              <a:t>Working retrieval on a local LLM -- answers with sources, zero compute cost, zero data egress.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160520"/>
            <a:ext cx="361188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4160520"/>
            <a:ext cx="3611880" cy="54864"/>
          </a:xfrm>
          <a:prstGeom prst="rect">
            <a:avLst/>
          </a:prstGeom>
          <a:solidFill>
            <a:srgbClr val="1A5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" y="4343400"/>
            <a:ext cx="3300984" cy="1380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1" i="0" spc="140">
                <a:solidFill>
                  <a:srgbClr val="1A5E38"/>
                </a:solidFill>
                <a:latin typeface="Arial"/>
              </a:rPr>
              <a:t>AGENTS</a:t>
            </a:r>
          </a:p>
          <a:p>
            <a:pPr>
              <a:spcBef>
                <a:spcPts val="300"/>
              </a:spcBef>
            </a:pPr>
            <a:r>
              <a:rPr sz="1300" b="1" i="0">
                <a:solidFill>
                  <a:srgbClr val="1A1C22"/>
                </a:solidFill>
                <a:latin typeface="Arial"/>
              </a:rPr>
              <a:t>Autonomous agents</a:t>
            </a:r>
          </a:p>
          <a:p>
            <a:pPr>
              <a:lnSpc>
                <a:spcPct val="118000"/>
              </a:lnSpc>
              <a:spcBef>
                <a:spcPts val="400"/>
              </a:spcBef>
            </a:pPr>
            <a:r>
              <a:rPr sz="1100" b="0" i="0">
                <a:solidFill>
                  <a:srgbClr val="52586A"/>
                </a:solidFill>
                <a:latin typeface="Arial"/>
              </a:rPr>
              <a:t>Multi-step agents that research, draft and prepare work under human review.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8536" y="4160520"/>
            <a:ext cx="361188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88536" y="4160520"/>
            <a:ext cx="3611880" cy="54864"/>
          </a:xfrm>
          <a:prstGeom prst="rect">
            <a:avLst/>
          </a:prstGeom>
          <a:solidFill>
            <a:srgbClr val="7B4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53128" y="4343400"/>
            <a:ext cx="3300984" cy="1380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1" i="0" spc="140">
                <a:solidFill>
                  <a:srgbClr val="7B4F00"/>
                </a:solidFill>
                <a:latin typeface="Arial"/>
              </a:rPr>
              <a:t>APPS</a:t>
            </a:r>
          </a:p>
          <a:p>
            <a:pPr>
              <a:spcBef>
                <a:spcPts val="300"/>
              </a:spcBef>
            </a:pPr>
            <a:r>
              <a:rPr sz="1300" b="1" i="0">
                <a:solidFill>
                  <a:srgbClr val="1A1C22"/>
                </a:solidFill>
                <a:latin typeface="Arial"/>
              </a:rPr>
              <a:t>Hyper-customized applications</a:t>
            </a:r>
          </a:p>
          <a:p>
            <a:pPr>
              <a:lnSpc>
                <a:spcPct val="118000"/>
              </a:lnSpc>
              <a:spcBef>
                <a:spcPts val="400"/>
              </a:spcBef>
            </a:pPr>
            <a:r>
              <a:rPr sz="1100" b="0" i="0">
                <a:solidFill>
                  <a:srgbClr val="52586A"/>
                </a:solidFill>
                <a:latin typeface="Arial"/>
              </a:rPr>
              <a:t>Bespoke tools that scrape and structure data from aggregators.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74152" y="4160520"/>
            <a:ext cx="3611880" cy="1691640"/>
          </a:xfrm>
          <a:prstGeom prst="roundRect">
            <a:avLst>
              <a:gd name="adj" fmla="val 6000"/>
            </a:avLst>
          </a:prstGeom>
          <a:solidFill>
            <a:srgbClr val="1A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75320" y="4343400"/>
            <a:ext cx="3246120" cy="1380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50" b="1" i="0" spc="140">
                <a:solidFill>
                  <a:srgbClr val="0070C0"/>
                </a:solidFill>
                <a:latin typeface="Arial"/>
              </a:rPr>
              <a:t>COMMON THREAD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1200" b="0" i="0">
                <a:solidFill>
                  <a:srgbClr val="FFFFFF"/>
                </a:solidFill>
                <a:latin typeface="Arial"/>
              </a:rPr>
              <a:t>Each was built by one person with domain expertise -- not a development team.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331720"/>
            <a:ext cx="457200" cy="5486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74519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 spc="220">
                <a:solidFill>
                  <a:srgbClr val="0070C0"/>
                </a:solidFill>
                <a:latin typeface="Arial"/>
              </a:rPr>
              <a:t>SECTION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06040"/>
            <a:ext cx="10972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600" b="0" i="0">
                <a:solidFill>
                  <a:srgbClr val="FFFFFF"/>
                </a:solidFill>
                <a:latin typeface="Georgia"/>
              </a:rPr>
              <a:t>More on </a:t>
            </a:r>
            <a:r>
              <a:rPr sz="4600" b="0" i="0">
                <a:solidFill>
                  <a:srgbClr val="0070C0"/>
                </a:solidFill>
                <a:latin typeface="Georgia"/>
              </a:rPr>
              <a:t>Tools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7" y="3977639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 i="0">
                <a:solidFill>
                  <a:srgbClr val="8A93A8"/>
                </a:solidFill>
                <a:latin typeface="Arial"/>
              </a:rPr>
              <a:t>Gemini  .  NotebookLM  .  Notion  .  Claude in Excel &amp; PowerPoint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00800"/>
            <a:ext cx="896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 spc="80">
                <a:solidFill>
                  <a:srgbClr val="4A5270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 spc="220">
                <a:solidFill>
                  <a:srgbClr val="0070C0"/>
                </a:solidFill>
                <a:latin typeface="Arial"/>
              </a:rPr>
              <a:t>MORE ON TOOLS  .  TRACK 1 - AUGMENT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300" b="0" i="0">
                <a:solidFill>
                  <a:srgbClr val="1A1C22"/>
                </a:solidFill>
                <a:latin typeface="Georgia"/>
              </a:rPr>
              <a:t>Claude in </a:t>
            </a:r>
            <a:r>
              <a:rPr sz="3300" b="0" i="0">
                <a:solidFill>
                  <a:srgbClr val="0070C0"/>
                </a:solidFill>
                <a:latin typeface="Georgia"/>
              </a:rPr>
              <a:t>Excel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572768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52586A"/>
                </a:solidFill>
                <a:latin typeface="Arial"/>
              </a:rPr>
              <a:t>The primary value is judgment, not speed -- catching logic errors on a 200-row risk register the day before a CDR is the use case that matters.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55664"/>
            <a:ext cx="11183112" cy="9525"/>
          </a:xfrm>
          <a:prstGeom prst="rect">
            <a:avLst/>
          </a:prstGeom>
          <a:solidFill>
            <a:srgbClr val="E0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0" i="0" spc="80">
                <a:solidFill>
                  <a:srgbClr val="8A93A8"/>
                </a:solidFill>
                <a:latin typeface="Arial"/>
              </a:rPr>
              <a:t>AI Implementation Strategy  .  Systems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510528"/>
            <a:ext cx="896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 spc="80">
                <a:solidFill>
                  <a:srgbClr val="8A93A8"/>
                </a:solidFill>
                <a:latin typeface="Arial"/>
              </a:rP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76272"/>
            <a:ext cx="11155680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176272"/>
            <a:ext cx="64008" cy="676656"/>
          </a:xfrm>
          <a:prstGeom prst="rect">
            <a:avLst/>
          </a:prstGeom>
          <a:solidFill>
            <a:srgbClr val="1A5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2176272"/>
            <a:ext cx="106984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150" b="1" i="0">
                <a:solidFill>
                  <a:srgbClr val="1A1C22"/>
                </a:solidFill>
                <a:latin typeface="Arial"/>
              </a:rPr>
              <a:t>Setup -- Desktop App or Claude Code</a:t>
            </a:r>
            <a:r>
              <a:rPr sz="1150" b="1" i="0">
                <a:solidFill>
                  <a:srgbClr val="1A5E38"/>
                </a:solidFill>
                <a:latin typeface="Arial"/>
              </a:rPr>
              <a:t>  --  </a:t>
            </a:r>
            <a:r>
              <a:rPr sz="1080" b="0" i="0">
                <a:solidFill>
                  <a:srgbClr val="52586A"/>
                </a:solidFill>
                <a:latin typeface="Arial"/>
              </a:rPr>
              <a:t>Install Claude Desktop App (Mac/Windows) and it integrates with your open .xlsx file directly. Claude Code reads and writes any spreadsheet from the terminal. Both are live -- no copy-paste.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935224"/>
            <a:ext cx="11155680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935224"/>
            <a:ext cx="64008" cy="676656"/>
          </a:xfrm>
          <a:prstGeom prst="rect">
            <a:avLst/>
          </a:prstGeom>
          <a:solidFill>
            <a:srgbClr val="1A5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2935224"/>
            <a:ext cx="106984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150" b="1" i="0">
                <a:solidFill>
                  <a:srgbClr val="1A1C22"/>
                </a:solidFill>
                <a:latin typeface="Arial"/>
              </a:rPr>
              <a:t>Generate -- describe the model, Claude builds it</a:t>
            </a:r>
            <a:r>
              <a:rPr sz="1150" b="1" i="0">
                <a:solidFill>
                  <a:srgbClr val="1A5E38"/>
                </a:solidFill>
                <a:latin typeface="Arial"/>
              </a:rPr>
              <a:t>  --  </a:t>
            </a:r>
            <a:r>
              <a:rPr sz="1080" b="0" i="0">
                <a:solidFill>
                  <a:srgbClr val="52586A"/>
                </a:solidFill>
                <a:latin typeface="Arial"/>
              </a:rPr>
              <a:t>Plain English: Create a Requirements Traceability Matrix, columns ID, Description, Source, Verification Method, Status. Colour code by status. Half-day task, five minutes.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694176"/>
            <a:ext cx="11155680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3694176"/>
            <a:ext cx="64008" cy="676656"/>
          </a:xfrm>
          <a:prstGeom prst="rect">
            <a:avLst/>
          </a:prstGeom>
          <a:solidFill>
            <a:srgbClr val="1A5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3694176"/>
            <a:ext cx="106984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150" b="1" i="0">
                <a:solidFill>
                  <a:srgbClr val="1A1C22"/>
                </a:solidFill>
                <a:latin typeface="Arial"/>
              </a:rPr>
              <a:t>Validate -- logical consistency on existing data</a:t>
            </a:r>
            <a:r>
              <a:rPr sz="1150" b="1" i="0">
                <a:solidFill>
                  <a:srgbClr val="1A5E38"/>
                </a:solidFill>
                <a:latin typeface="Arial"/>
              </a:rPr>
              <a:t>  --  </a:t>
            </a:r>
            <a:r>
              <a:rPr sz="1080" b="0" i="0">
                <a:solidFill>
                  <a:srgbClr val="52586A"/>
                </a:solidFill>
                <a:latin typeface="Arial"/>
              </a:rPr>
              <a:t>Check this risk register: flag rows where score does not equal Likelihood times Impact, and any mitigation marked complete with residual risk still rated High. Exact row references returned.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453128"/>
            <a:ext cx="11155680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4453128"/>
            <a:ext cx="64008" cy="676656"/>
          </a:xfrm>
          <a:prstGeom prst="rect">
            <a:avLst/>
          </a:prstGeom>
          <a:solidFill>
            <a:srgbClr val="1A5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952" y="4453128"/>
            <a:ext cx="106984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150" b="1" i="0">
                <a:solidFill>
                  <a:srgbClr val="1A1C22"/>
                </a:solidFill>
                <a:latin typeface="Arial"/>
              </a:rPr>
              <a:t>Quality -- structured quality report across the workbook</a:t>
            </a:r>
            <a:r>
              <a:rPr sz="1150" b="1" i="0">
                <a:solidFill>
                  <a:srgbClr val="1A5E38"/>
                </a:solidFill>
                <a:latin typeface="Arial"/>
              </a:rPr>
              <a:t>  --  </a:t>
            </a:r>
            <a:r>
              <a:rPr sz="1080" b="0" i="0">
                <a:solidFill>
                  <a:srgbClr val="52586A"/>
                </a:solidFill>
                <a:latin typeface="Arial"/>
              </a:rPr>
              <a:t>Missing values, duplicate cost IDs, sub-item totals that don't roll up, forecast dates already passed. The prompt is the quality criterion -- no hard-coded rules.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212080"/>
            <a:ext cx="11155680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5212080"/>
            <a:ext cx="64008" cy="676656"/>
          </a:xfrm>
          <a:prstGeom prst="rect">
            <a:avLst/>
          </a:prstGeom>
          <a:solidFill>
            <a:srgbClr val="1A5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" y="5212080"/>
            <a:ext cx="106984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150" b="1" i="0">
                <a:solidFill>
                  <a:srgbClr val="1A1C22"/>
                </a:solidFill>
                <a:latin typeface="Arial"/>
              </a:rPr>
              <a:t>Revise -- reformat to a new standard without data loss</a:t>
            </a:r>
            <a:r>
              <a:rPr sz="1150" b="1" i="0">
                <a:solidFill>
                  <a:srgbClr val="1A5E38"/>
                </a:solidFill>
                <a:latin typeface="Arial"/>
              </a:rPr>
              <a:t>  --  </a:t>
            </a:r>
            <a:r>
              <a:rPr sz="1080" b="0" i="0">
                <a:solidFill>
                  <a:srgbClr val="52586A"/>
                </a:solidFill>
                <a:latin typeface="Arial"/>
              </a:rPr>
              <a:t>Apply the AS9100 template. Add missing columns, rename existing ones, keep all data. Create a backup tab first. No manual reformatting, no cut-and-paste risk.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 spc="220">
                <a:solidFill>
                  <a:srgbClr val="0070C0"/>
                </a:solidFill>
                <a:latin typeface="Arial"/>
              </a:rPr>
              <a:t>MORE ON TOOLS  .  TRACK 1 - AUGMENT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300" b="0" i="0">
                <a:solidFill>
                  <a:srgbClr val="1A1C22"/>
                </a:solidFill>
                <a:latin typeface="Georgia"/>
              </a:rPr>
              <a:t>Claude in </a:t>
            </a:r>
            <a:r>
              <a:rPr sz="3300" b="0" i="0">
                <a:solidFill>
                  <a:srgbClr val="0070C0"/>
                </a:solidFill>
                <a:latin typeface="Georgia"/>
              </a:rPr>
              <a:t>PowerPoint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572768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52586A"/>
                </a:solidFill>
                <a:latin typeface="Arial"/>
              </a:rPr>
              <a:t>Narrative intelligence, not template filling. A CDR deck tells a different story than an executive briefing -- from the same technical content, Claude rewrites for each audience automatically.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55664"/>
            <a:ext cx="11183112" cy="9525"/>
          </a:xfrm>
          <a:prstGeom prst="rect">
            <a:avLst/>
          </a:prstGeom>
          <a:solidFill>
            <a:srgbClr val="E0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0" i="0" spc="80">
                <a:solidFill>
                  <a:srgbClr val="8A93A8"/>
                </a:solidFill>
                <a:latin typeface="Arial"/>
              </a:rPr>
              <a:t>AI Implementation Strategy  .  Systems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510528"/>
            <a:ext cx="896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 spc="80">
                <a:solidFill>
                  <a:srgbClr val="8A93A8"/>
                </a:solidFill>
                <a:latin typeface="Arial"/>
              </a:rP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76272"/>
            <a:ext cx="11155680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176272"/>
            <a:ext cx="64008" cy="67665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2176272"/>
            <a:ext cx="106984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150" b="1" i="0">
                <a:solidFill>
                  <a:srgbClr val="1A1C22"/>
                </a:solidFill>
                <a:latin typeface="Arial"/>
              </a:rPr>
              <a:t>Setup -- Desktop App or Claude Code</a:t>
            </a:r>
            <a:r>
              <a:rPr sz="1150" b="1" i="0">
                <a:solidFill>
                  <a:srgbClr val="0070C0"/>
                </a:solidFill>
                <a:latin typeface="Arial"/>
              </a:rPr>
              <a:t>  --  </a:t>
            </a:r>
            <a:r>
              <a:rPr sz="1080" b="0" i="0">
                <a:solidFill>
                  <a:srgbClr val="52586A"/>
                </a:solidFill>
                <a:latin typeface="Arial"/>
              </a:rPr>
              <a:t>Desktop App: integrates with your open PowerPoint file -- describe the deck or ask Claude to revise a slide. Claude Code: point it at a .pptx file; reads template structure, applies content, reshuffles slides and saves. Best for batch operations.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935224"/>
            <a:ext cx="11155680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935224"/>
            <a:ext cx="64008" cy="67665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2935224"/>
            <a:ext cx="106984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150" b="1" i="0">
                <a:solidFill>
                  <a:srgbClr val="1A1C22"/>
                </a:solidFill>
                <a:latin typeface="Arial"/>
              </a:rPr>
              <a:t>Input -- dump raw material, specify audience and purpose</a:t>
            </a:r>
            <a:r>
              <a:rPr sz="1150" b="1" i="0">
                <a:solidFill>
                  <a:srgbClr val="0070C0"/>
                </a:solidFill>
                <a:latin typeface="Arial"/>
              </a:rPr>
              <a:t>  --  </a:t>
            </a:r>
            <a:r>
              <a:rPr sz="1080" b="0" i="0">
                <a:solidFill>
                  <a:srgbClr val="52586A"/>
                </a:solidFill>
                <a:latin typeface="Arial"/>
              </a:rPr>
              <a:t>Provide raw notes and the goal: integration test results for the thermal subsystem, 10-slide CDR pack for programme managers who are not thermal engineers, highlight the two anomalies. Claude produces: context, findings, risks, mitigations, schedule impact, next actions.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694176"/>
            <a:ext cx="11155680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3694176"/>
            <a:ext cx="64008" cy="67665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3694176"/>
            <a:ext cx="106984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150" b="1" i="0">
                <a:solidFill>
                  <a:srgbClr val="1A1C22"/>
                </a:solidFill>
                <a:latin typeface="Arial"/>
              </a:rPr>
              <a:t>Template -- apply corporate branding without manual formatting</a:t>
            </a:r>
            <a:r>
              <a:rPr sz="1150" b="1" i="0">
                <a:solidFill>
                  <a:srgbClr val="0070C0"/>
                </a:solidFill>
                <a:latin typeface="Arial"/>
              </a:rPr>
              <a:t>  --  </a:t>
            </a:r>
            <a:r>
              <a:rPr sz="1080" b="0" i="0">
                <a:solidFill>
                  <a:srgbClr val="52586A"/>
                </a:solidFill>
                <a:latin typeface="Arial"/>
              </a:rPr>
              <a:t>Use the branding from this template file. Apply the correct master slide, replace placeholder text with new content. Claude reads the template structure -- no text-box dragging, no accidental font changes from cross-file pasting.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453128"/>
            <a:ext cx="11155680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4453128"/>
            <a:ext cx="64008" cy="67665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952" y="4453128"/>
            <a:ext cx="106984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150" b="1" i="0">
                <a:solidFill>
                  <a:srgbClr val="1A1C22"/>
                </a:solidFill>
                <a:latin typeface="Arial"/>
              </a:rPr>
              <a:t>Adapt -- audience calibration: two versions, one source</a:t>
            </a:r>
            <a:r>
              <a:rPr sz="1150" b="1" i="0">
                <a:solidFill>
                  <a:srgbClr val="0070C0"/>
                </a:solidFill>
                <a:latin typeface="Arial"/>
              </a:rPr>
              <a:t>  --  </a:t>
            </a:r>
            <a:r>
              <a:rPr sz="1080" b="0" i="0">
                <a:solidFill>
                  <a:srgbClr val="52586A"/>
                </a:solidFill>
                <a:latin typeface="Arial"/>
              </a:rPr>
              <a:t>Rewrite slide 3 for the executive steering committee. Remove TRL references, lead with the cost implication. That slide only. One deck, two audiences, no duplicated effort.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212080"/>
            <a:ext cx="11155680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5212080"/>
            <a:ext cx="64008" cy="67665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" y="5212080"/>
            <a:ext cx="106984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150" b="1" i="0">
                <a:solidFill>
                  <a:srgbClr val="1A1C22"/>
                </a:solidFill>
                <a:latin typeface="Arial"/>
              </a:rPr>
              <a:t>Finish -- speaker notes tailored to the specific presenter</a:t>
            </a:r>
            <a:r>
              <a:rPr sz="1150" b="1" i="0">
                <a:solidFill>
                  <a:srgbClr val="0070C0"/>
                </a:solidFill>
                <a:latin typeface="Arial"/>
              </a:rPr>
              <a:t>  --  </a:t>
            </a:r>
            <a:r>
              <a:rPr sz="1080" b="0" i="0">
                <a:solidFill>
                  <a:srgbClr val="52586A"/>
                </a:solidFill>
                <a:latin typeface="Arial"/>
              </a:rPr>
              <a:t>The presenter is the SE lead -- technically strong but new to this programme. Include background context for slides 4 and 7. Notes that prepare for likely questions, not just summaries of what is on the slide.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 spc="220">
                <a:solidFill>
                  <a:srgbClr val="0070C0"/>
                </a:solidFill>
                <a:latin typeface="Arial"/>
              </a:rPr>
              <a:t>MORE ON TOOLS  .  TRACK 1 - AUGMENT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300" b="0" i="0">
                <a:solidFill>
                  <a:srgbClr val="1A1C22"/>
                </a:solidFill>
                <a:latin typeface="Georgia"/>
              </a:rPr>
              <a:t>Cowork &amp; </a:t>
            </a:r>
            <a:r>
              <a:rPr sz="3300" b="0" i="0">
                <a:solidFill>
                  <a:srgbClr val="0070C0"/>
                </a:solidFill>
                <a:latin typeface="Georgia"/>
              </a:rPr>
              <a:t>Reusable Skills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572768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52586A"/>
                </a:solidFill>
                <a:latin typeface="Arial"/>
              </a:rPr>
              <a:t>Without skills, every session starts from zero. Skills encode your team's standards once -- the AI behaves like a trained team member from the first message, for everyone.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55664"/>
            <a:ext cx="11183112" cy="9525"/>
          </a:xfrm>
          <a:prstGeom prst="rect">
            <a:avLst/>
          </a:prstGeom>
          <a:solidFill>
            <a:srgbClr val="E0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0" i="0" spc="80">
                <a:solidFill>
                  <a:srgbClr val="8A93A8"/>
                </a:solidFill>
                <a:latin typeface="Arial"/>
              </a:rPr>
              <a:t>AI Implementation Strategy  .  Systems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510528"/>
            <a:ext cx="896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 spc="80">
                <a:solidFill>
                  <a:srgbClr val="8A93A8"/>
                </a:solidFill>
                <a:latin typeface="Arial"/>
              </a:rPr>
              <a:t>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48840"/>
            <a:ext cx="544068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148840"/>
            <a:ext cx="5440680" cy="5486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2313432"/>
            <a:ext cx="5038344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1" i="0" spc="120">
                <a:solidFill>
                  <a:srgbClr val="0070C0"/>
                </a:solidFill>
                <a:latin typeface="Arial"/>
              </a:rPr>
              <a:t>CLAUDE.md -- Always-on project memory</a:t>
            </a:r>
          </a:p>
          <a:p>
            <a:pPr>
              <a:lnSpc>
                <a:spcPct val="118000"/>
              </a:lnSpc>
              <a:spcBef>
                <a:spcPts val="400"/>
              </a:spcBef>
            </a:pPr>
            <a:r>
              <a:rPr sz="1080" b="0" i="0">
                <a:solidFill>
                  <a:srgbClr val="52586A"/>
                </a:solidFill>
                <a:latin typeface="Arial"/>
              </a:rPr>
              <a:t>Plain-text file in project root. Contains company terminology, document standards, risk scales, naming rules. Claude reads it automatically every session. Shared via Git -- entire team uses the same knowledge base with no separate configuration.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1072" y="2148840"/>
            <a:ext cx="544068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91072" y="2148840"/>
            <a:ext cx="5440680" cy="5486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1384" y="2313432"/>
            <a:ext cx="5038344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1" i="0" spc="120">
                <a:solidFill>
                  <a:srgbClr val="002060"/>
                </a:solidFill>
                <a:latin typeface="Arial"/>
              </a:rPr>
              <a:t>Slash commands -- One-keystroke workflow triggers</a:t>
            </a:r>
          </a:p>
          <a:p>
            <a:pPr>
              <a:lnSpc>
                <a:spcPct val="118000"/>
              </a:lnSpc>
              <a:spcBef>
                <a:spcPts val="400"/>
              </a:spcBef>
            </a:pPr>
            <a:r>
              <a:rPr sz="1080" b="0" i="0">
                <a:solidFill>
                  <a:srgbClr val="52586A"/>
                </a:solidFill>
                <a:latin typeface="Arial"/>
              </a:rPr>
              <a:t>Files in .claude/commands/ -- each a prompt template for a recurring task. /weekly-report triggers the full workflow immediately. Committed to Git alongside CLAUDE.md -- distributed automatically to the whole team.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785615"/>
            <a:ext cx="11155680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3785615"/>
            <a:ext cx="64008" cy="694944"/>
          </a:xfrm>
          <a:prstGeom prst="rect">
            <a:avLst/>
          </a:prstGeom>
          <a:solidFill>
            <a:srgbClr val="00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3785615"/>
            <a:ext cx="1069848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150" b="1" i="0">
                <a:solidFill>
                  <a:srgbClr val="1A1C22"/>
                </a:solidFill>
                <a:latin typeface="Arial"/>
              </a:rPr>
              <a:t>Write CLAUDE.md</a:t>
            </a:r>
            <a:r>
              <a:rPr sz="1150" b="1" i="0">
                <a:solidFill>
                  <a:srgbClr val="006B6B"/>
                </a:solidFill>
                <a:latin typeface="Arial"/>
              </a:rPr>
              <a:t>  --  </a:t>
            </a:r>
            <a:r>
              <a:rPr sz="1080" b="0" i="0">
                <a:solidFill>
                  <a:srgbClr val="52586A"/>
                </a:solidFill>
                <a:latin typeface="Arial"/>
              </a:rPr>
              <a:t>Treat it as an onboarding document: define risk register columns, scoring scale, flag thresholds, naming conventions. If a new hire needs to know it, the AI needs to know it too.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571999"/>
            <a:ext cx="11155680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4571999"/>
            <a:ext cx="64008" cy="694944"/>
          </a:xfrm>
          <a:prstGeom prst="rect">
            <a:avLst/>
          </a:prstGeom>
          <a:solidFill>
            <a:srgbClr val="00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952" y="4571999"/>
            <a:ext cx="1069848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150" b="1" i="0">
                <a:solidFill>
                  <a:srgbClr val="1A1C22"/>
                </a:solidFill>
                <a:latin typeface="Arial"/>
              </a:rPr>
              <a:t>Share via Git</a:t>
            </a:r>
            <a:r>
              <a:rPr sz="1150" b="1" i="0">
                <a:solidFill>
                  <a:srgbClr val="006B6B"/>
                </a:solidFill>
                <a:latin typeface="Arial"/>
              </a:rPr>
              <a:t>  --  </a:t>
            </a:r>
            <a:r>
              <a:rPr sz="1080" b="0" i="0">
                <a:solidFill>
                  <a:srgbClr val="52586A"/>
                </a:solidFill>
                <a:latin typeface="Arial"/>
              </a:rPr>
              <a:t>Commit CLAUDE.md to the project repo. Every team member who opens the project with Claude Code has the same skills -- no separate configuration, no re-explanation. Standards propagate on the next pull.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358383"/>
            <a:ext cx="11155680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5358383"/>
            <a:ext cx="64008" cy="694944"/>
          </a:xfrm>
          <a:prstGeom prst="rect">
            <a:avLst/>
          </a:prstGeom>
          <a:solidFill>
            <a:srgbClr val="00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" y="5358383"/>
            <a:ext cx="1069848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150" b="1" i="0">
                <a:solidFill>
                  <a:srgbClr val="1A1C22"/>
                </a:solidFill>
                <a:latin typeface="Arial"/>
              </a:rPr>
              <a:t>Evolve -- skills are institutional IP</a:t>
            </a:r>
            <a:r>
              <a:rPr sz="1150" b="1" i="0">
                <a:solidFill>
                  <a:srgbClr val="006B6B"/>
                </a:solidFill>
                <a:latin typeface="Arial"/>
              </a:rPr>
              <a:t>  --  </a:t>
            </a:r>
            <a:r>
              <a:rPr sz="1080" b="0" i="0">
                <a:solidFill>
                  <a:srgbClr val="52586A"/>
                </a:solidFill>
                <a:latin typeface="Arial"/>
              </a:rPr>
              <a:t>Each time a standard is re-explained to the AI, it belongs in CLAUDE.md. After six months, a well-maintained file represents the team's accumulated knowledge of what good output looks like on this project.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 spc="220">
                <a:solidFill>
                  <a:srgbClr val="0070C0"/>
                </a:solidFill>
                <a:latin typeface="Arial"/>
              </a:rPr>
              <a:t>MORE ON TOOLS  .  GOOGLE &amp; NOTION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300" b="0" i="0">
                <a:solidFill>
                  <a:srgbClr val="1A1C22"/>
                </a:solidFill>
                <a:latin typeface="Georgia"/>
              </a:rPr>
              <a:t>NotebookLM  &amp;  </a:t>
            </a:r>
            <a:r>
              <a:rPr sz="3300" b="0" i="0">
                <a:solidFill>
                  <a:srgbClr val="0070C0"/>
                </a:solidFill>
                <a:latin typeface="Georgia"/>
              </a:rPr>
              <a:t>Notion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572768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52586A"/>
                </a:solidFill>
                <a:latin typeface="Arial"/>
              </a:rPr>
              <a:t>Research synthesis and knowledge management -- two complementary tools that extend what Claude covers.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55664"/>
            <a:ext cx="11183112" cy="9525"/>
          </a:xfrm>
          <a:prstGeom prst="rect">
            <a:avLst/>
          </a:prstGeom>
          <a:solidFill>
            <a:srgbClr val="E0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0" i="0" spc="80">
                <a:solidFill>
                  <a:srgbClr val="8A93A8"/>
                </a:solidFill>
                <a:latin typeface="Arial"/>
              </a:rPr>
              <a:t>AI Implementation Strategy  .  Systems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510528"/>
            <a:ext cx="896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 spc="80">
                <a:solidFill>
                  <a:srgbClr val="8A93A8"/>
                </a:solidFill>
                <a:latin typeface="Arial"/>
              </a:rPr>
              <a:t>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48840"/>
            <a:ext cx="544068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148840"/>
            <a:ext cx="5440680" cy="54864"/>
          </a:xfrm>
          <a:prstGeom prst="rect">
            <a:avLst/>
          </a:prstGeom>
          <a:solidFill>
            <a:srgbClr val="00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2313432"/>
            <a:ext cx="5038344" cy="36758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1" i="0" spc="120">
                <a:solidFill>
                  <a:srgbClr val="006B6B"/>
                </a:solidFill>
                <a:latin typeface="Arial"/>
              </a:rPr>
              <a:t>Google NotebookLM -- Deep Research</a:t>
            </a:r>
          </a:p>
          <a:p>
            <a:pPr>
              <a:spcBef>
                <a:spcPts val="600"/>
              </a:spcBef>
            </a:pPr>
            <a:r>
              <a:rPr sz="1150" b="1" i="0">
                <a:solidFill>
                  <a:srgbClr val="1A1C22"/>
                </a:solidFill>
                <a:latin typeface="Arial"/>
              </a:rPr>
              <a:t>Ingest up to 50 sources: PDFs, Google Docs, URLs, YouTube transcripts.</a:t>
            </a: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100" b="1" i="0">
                <a:solidFill>
                  <a:srgbClr val="006B6B"/>
                </a:solidFill>
                <a:latin typeface="Arial"/>
              </a:rPr>
              <a:t>-&gt;  </a:t>
            </a:r>
            <a:r>
              <a:rPr sz="1080" b="0" i="0">
                <a:solidFill>
                  <a:srgbClr val="52586A"/>
                </a:solidFill>
                <a:latin typeface="Arial"/>
              </a:rPr>
              <a:t>Generates structured summaries and thematic analysis across all sources simultaneously -- not one document at a time.</a:t>
            </a: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100" b="1" i="0">
                <a:solidFill>
                  <a:srgbClr val="006B6B"/>
                </a:solidFill>
                <a:latin typeface="Arial"/>
              </a:rPr>
              <a:t>-&gt;  </a:t>
            </a:r>
            <a:r>
              <a:rPr sz="1080" b="0" i="0">
                <a:solidFill>
                  <a:srgbClr val="52586A"/>
                </a:solidFill>
                <a:latin typeface="Arial"/>
              </a:rPr>
              <a:t>Audio Overview: a podcast-style briefing on your uploaded sources. Useful for absorbing large standards documents during a commute.</a:t>
            </a: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100" b="1" i="0">
                <a:solidFill>
                  <a:srgbClr val="006B6B"/>
                </a:solidFill>
                <a:latin typeface="Arial"/>
              </a:rPr>
              <a:t>-&gt;  </a:t>
            </a:r>
            <a:r>
              <a:rPr sz="1080" b="0" i="0">
                <a:solidFill>
                  <a:srgbClr val="52586A"/>
                </a:solidFill>
                <a:latin typeface="Arial"/>
              </a:rPr>
              <a:t>Mind maps and structured FAQs generated directly from your source set.</a:t>
            </a: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100" b="1" i="0">
                <a:solidFill>
                  <a:srgbClr val="006B6B"/>
                </a:solidFill>
                <a:latin typeface="Arial"/>
              </a:rPr>
              <a:t>-&gt;  </a:t>
            </a:r>
            <a:r>
              <a:rPr sz="1080" b="0" i="0">
                <a:solidFill>
                  <a:srgbClr val="52586A"/>
                </a:solidFill>
                <a:latin typeface="Arial"/>
              </a:rPr>
              <a:t>Best for: synthesising project libraries, ingesting lengthy standards, literature reviews, pre-briefing before a complex meeting.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1072" y="2148840"/>
            <a:ext cx="544068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91072" y="2148840"/>
            <a:ext cx="5440680" cy="54864"/>
          </a:xfrm>
          <a:prstGeom prst="rect">
            <a:avLst/>
          </a:prstGeom>
          <a:solidFill>
            <a:srgbClr val="7B4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1384" y="2313432"/>
            <a:ext cx="5038344" cy="36758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1" i="0" spc="120">
                <a:solidFill>
                  <a:srgbClr val="7B4F00"/>
                </a:solidFill>
                <a:latin typeface="Arial"/>
              </a:rPr>
              <a:t>Notion AI -- Prompt Library &amp; Knowledge Base</a:t>
            </a:r>
          </a:p>
          <a:p>
            <a:pPr>
              <a:spcBef>
                <a:spcPts val="600"/>
              </a:spcBef>
            </a:pPr>
            <a:r>
              <a:rPr sz="1150" b="1" i="0">
                <a:solidFill>
                  <a:srgbClr val="1A1C22"/>
                </a:solidFill>
                <a:latin typeface="Arial"/>
              </a:rPr>
              <a:t>Workspace with built-in AI: databases, docs, and AI-assisted editing in one tool.</a:t>
            </a: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100" b="1" i="0">
                <a:solidFill>
                  <a:srgbClr val="7B4F00"/>
                </a:solidFill>
                <a:latin typeface="Arial"/>
              </a:rPr>
              <a:t>-&gt;  </a:t>
            </a:r>
            <a:r>
              <a:rPr sz="1080" b="0" i="0">
                <a:solidFill>
                  <a:srgbClr val="52586A"/>
                </a:solidFill>
                <a:latin typeface="Arial"/>
              </a:rPr>
              <a:t>Prompt library: store, categorise, and iterate on prompts for recurring tasks. Anyone on the team can find and reuse proven prompts without starting from scratch.</a:t>
            </a: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100" b="1" i="0">
                <a:solidFill>
                  <a:srgbClr val="7B4F00"/>
                </a:solidFill>
                <a:latin typeface="Arial"/>
              </a:rPr>
              <a:t>-&gt;  </a:t>
            </a:r>
            <a:r>
              <a:rPr sz="1080" b="0" i="0">
                <a:solidFill>
                  <a:srgbClr val="52586A"/>
                </a:solidFill>
                <a:latin typeface="Arial"/>
              </a:rPr>
              <a:t>AI summaries: any page can be summarised, condensed, or expanded on demand.</a:t>
            </a: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100" b="1" i="0">
                <a:solidFill>
                  <a:srgbClr val="7B4F00"/>
                </a:solidFill>
                <a:latin typeface="Arial"/>
              </a:rPr>
              <a:t>-&gt;  </a:t>
            </a:r>
            <a:r>
              <a:rPr sz="1080" b="0" i="0">
                <a:solidFill>
                  <a:srgbClr val="52586A"/>
                </a:solidFill>
                <a:latin typeface="Arial"/>
              </a:rPr>
              <a:t>Meeting notes to action items: paste transcript, extract structured actions with owners and dates.</a:t>
            </a: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100" b="1" i="0">
                <a:solidFill>
                  <a:srgbClr val="7B4F00"/>
                </a:solidFill>
                <a:latin typeface="Arial"/>
              </a:rPr>
              <a:t>-&gt;  </a:t>
            </a:r>
            <a:r>
              <a:rPr sz="1080" b="0" i="0">
                <a:solidFill>
                  <a:srgbClr val="52586A"/>
                </a:solidFill>
                <a:latin typeface="Arial"/>
              </a:rPr>
              <a:t>Best for: prompt management, team knowledge base, lightweight project documentation where SharePoint is overkill.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 spc="220">
                <a:solidFill>
                  <a:srgbClr val="0070C0"/>
                </a:solidFill>
                <a:latin typeface="Arial"/>
              </a:rPr>
              <a:t>MORE ON TOOLS  .  MODEL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300" b="0" i="0">
                <a:solidFill>
                  <a:srgbClr val="1A1C22"/>
                </a:solidFill>
                <a:latin typeface="Georgia"/>
              </a:rPr>
              <a:t>Gemini  vs  </a:t>
            </a:r>
            <a:r>
              <a:rPr sz="3300" b="0" i="0">
                <a:solidFill>
                  <a:srgbClr val="0070C0"/>
                </a:solidFill>
                <a:latin typeface="Georgia"/>
              </a:rPr>
              <a:t>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572768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52586A"/>
                </a:solidFill>
                <a:latin typeface="Arial"/>
              </a:rPr>
              <a:t>Both are frontier-class. The question is fit for purpose -- and for agent building and office work, the answer is clear.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55664"/>
            <a:ext cx="11183112" cy="9525"/>
          </a:xfrm>
          <a:prstGeom prst="rect">
            <a:avLst/>
          </a:prstGeom>
          <a:solidFill>
            <a:srgbClr val="E0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0" i="0" spc="80">
                <a:solidFill>
                  <a:srgbClr val="8A93A8"/>
                </a:solidFill>
                <a:latin typeface="Arial"/>
              </a:rPr>
              <a:t>AI Implementation Strategy  .  Systems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510528"/>
            <a:ext cx="896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 spc="80">
                <a:solidFill>
                  <a:srgbClr val="8A93A8"/>
                </a:solidFill>
                <a:latin typeface="Arial"/>
              </a:rPr>
              <a:t>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94560"/>
            <a:ext cx="54406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194560"/>
            <a:ext cx="5440680" cy="54864"/>
          </a:xfrm>
          <a:prstGeom prst="rect">
            <a:avLst/>
          </a:prstGeom>
          <a:solidFill>
            <a:srgbClr val="00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395728"/>
            <a:ext cx="498348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 spc="120">
                <a:solidFill>
                  <a:srgbClr val="006B6B"/>
                </a:solidFill>
                <a:latin typeface="Arial"/>
              </a:rPr>
              <a:t>GEMINI  .  GOOGLE DEEPMIND</a:t>
            </a:r>
          </a:p>
          <a:p>
            <a:pPr>
              <a:spcBef>
                <a:spcPts val="400"/>
              </a:spcBef>
            </a:pPr>
            <a:r>
              <a:rPr sz="1450" b="1" i="0">
                <a:solidFill>
                  <a:srgbClr val="1A1C22"/>
                </a:solidFill>
                <a:latin typeface="Georgia"/>
              </a:rPr>
              <a:t>Dedicated multimodal -- purpose-built for cross-modal work</a:t>
            </a:r>
          </a:p>
          <a:p>
            <a:pPr>
              <a:lnSpc>
                <a:spcPct val="113000"/>
              </a:lnSpc>
              <a:spcBef>
                <a:spcPts val="700"/>
              </a:spcBef>
            </a:pPr>
            <a:r>
              <a:rPr sz="1100" b="1" i="0">
                <a:solidFill>
                  <a:srgbClr val="006B6B"/>
                </a:solidFill>
                <a:latin typeface="Arial"/>
              </a:rPr>
              <a:t>.  </a:t>
            </a:r>
            <a:r>
              <a:rPr sz="1100" b="0" i="0">
                <a:solidFill>
                  <a:srgbClr val="52586A"/>
                </a:solidFill>
                <a:latin typeface="Arial"/>
              </a:rPr>
              <a:t>Native image generation (Imagen) -- best-in-class text-to-image from a chat interface</a:t>
            </a:r>
          </a:p>
          <a:p>
            <a:pPr>
              <a:lnSpc>
                <a:spcPct val="113000"/>
              </a:lnSpc>
              <a:spcBef>
                <a:spcPts val="700"/>
              </a:spcBef>
            </a:pPr>
            <a:r>
              <a:rPr sz="1100" b="1" i="0">
                <a:solidFill>
                  <a:srgbClr val="006B6B"/>
                </a:solidFill>
                <a:latin typeface="Arial"/>
              </a:rPr>
              <a:t>.  </a:t>
            </a:r>
            <a:r>
              <a:rPr sz="1100" b="0" i="0">
                <a:solidFill>
                  <a:srgbClr val="52586A"/>
                </a:solidFill>
                <a:latin typeface="Arial"/>
              </a:rPr>
              <a:t>Video understanding and generation (Veo) at a depth other models don't match</a:t>
            </a:r>
          </a:p>
          <a:p>
            <a:pPr>
              <a:lnSpc>
                <a:spcPct val="113000"/>
              </a:lnSpc>
              <a:spcBef>
                <a:spcPts val="700"/>
              </a:spcBef>
            </a:pPr>
            <a:r>
              <a:rPr sz="1100" b="1" i="0">
                <a:solidFill>
                  <a:srgbClr val="006B6B"/>
                </a:solidFill>
                <a:latin typeface="Arial"/>
              </a:rPr>
              <a:t>.  </a:t>
            </a:r>
            <a:r>
              <a:rPr sz="1100" b="0" i="0">
                <a:solidFill>
                  <a:srgbClr val="52586A"/>
                </a:solidFill>
                <a:latin typeface="Arial"/>
              </a:rPr>
              <a:t>Deep Research: multi-step web research agent producing long-form reports with citations</a:t>
            </a:r>
          </a:p>
          <a:p>
            <a:pPr>
              <a:lnSpc>
                <a:spcPct val="113000"/>
              </a:lnSpc>
              <a:spcBef>
                <a:spcPts val="700"/>
              </a:spcBef>
            </a:pPr>
            <a:r>
              <a:rPr sz="1100" b="1" i="0">
                <a:solidFill>
                  <a:srgbClr val="006B6B"/>
                </a:solidFill>
                <a:latin typeface="Arial"/>
              </a:rPr>
              <a:t>.  </a:t>
            </a:r>
            <a:r>
              <a:rPr sz="1100" b="0" i="0">
                <a:solidFill>
                  <a:srgbClr val="52586A"/>
                </a:solidFill>
                <a:latin typeface="Arial"/>
              </a:rPr>
              <a:t>Google ecosystem binding -- Docs, Sheets, Drive, Gmail, Meet integration</a:t>
            </a:r>
          </a:p>
          <a:p>
            <a:pPr>
              <a:lnSpc>
                <a:spcPct val="113000"/>
              </a:lnSpc>
              <a:spcBef>
                <a:spcPts val="700"/>
              </a:spcBef>
            </a:pPr>
            <a:r>
              <a:rPr sz="1100" b="1" i="0">
                <a:solidFill>
                  <a:srgbClr val="006B6B"/>
                </a:solidFill>
                <a:latin typeface="Arial"/>
              </a:rPr>
              <a:t>.  </a:t>
            </a:r>
            <a:r>
              <a:rPr sz="1100" b="0" i="0">
                <a:solidFill>
                  <a:srgbClr val="52586A"/>
                </a:solidFill>
                <a:latin typeface="Arial"/>
              </a:rPr>
              <a:t>I would choose Gemini for: any workflow where image or video creation is the primary output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5352" y="2194560"/>
            <a:ext cx="5440680" cy="3931920"/>
          </a:xfrm>
          <a:prstGeom prst="roundRect">
            <a:avLst>
              <a:gd name="adj" fmla="val 4000"/>
            </a:avLst>
          </a:prstGeom>
          <a:solidFill>
            <a:srgbClr val="E6EEF7"/>
          </a:solidFill>
          <a:ln w="1905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5352" y="2194560"/>
            <a:ext cx="5440680" cy="5486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95728"/>
            <a:ext cx="498348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i="0" spc="120">
                <a:solidFill>
                  <a:srgbClr val="0070C0"/>
                </a:solidFill>
                <a:latin typeface="Arial"/>
              </a:rPr>
              <a:t>CLAUDE  .  ANTHROPIC  .  MY CHOICE</a:t>
            </a:r>
          </a:p>
          <a:p>
            <a:pPr>
              <a:spcBef>
                <a:spcPts val="400"/>
              </a:spcBef>
            </a:pPr>
            <a:r>
              <a:rPr sz="1450" b="1" i="0">
                <a:solidFill>
                  <a:srgbClr val="002060"/>
                </a:solidFill>
                <a:latin typeface="Georgia"/>
              </a:rPr>
              <a:t>Agent building and office work -- best available solution</a:t>
            </a:r>
          </a:p>
          <a:p>
            <a:pPr>
              <a:lnSpc>
                <a:spcPct val="113000"/>
              </a:lnSpc>
              <a:spcBef>
                <a:spcPts val="700"/>
              </a:spcBef>
            </a:pPr>
            <a:r>
              <a:rPr sz="1100" b="1" i="0">
                <a:solidFill>
                  <a:srgbClr val="0070C0"/>
                </a:solidFill>
                <a:latin typeface="Arial"/>
              </a:rPr>
              <a:t>-&gt;  </a:t>
            </a:r>
            <a:r>
              <a:rPr sz="1100" b="0" i="0">
                <a:solidFill>
                  <a:srgbClr val="0D3060"/>
                </a:solidFill>
                <a:latin typeface="Arial"/>
              </a:rPr>
              <a:t>Agent building: MCP ecosystem, Claude Code, multi-step reasoning -- the most mature agent stack today</a:t>
            </a:r>
          </a:p>
          <a:p>
            <a:pPr>
              <a:lnSpc>
                <a:spcPct val="113000"/>
              </a:lnSpc>
              <a:spcBef>
                <a:spcPts val="700"/>
              </a:spcBef>
            </a:pPr>
            <a:r>
              <a:rPr sz="1100" b="1" i="0">
                <a:solidFill>
                  <a:srgbClr val="0070C0"/>
                </a:solidFill>
                <a:latin typeface="Arial"/>
              </a:rPr>
              <a:t>-&gt;  </a:t>
            </a:r>
            <a:r>
              <a:rPr sz="1100" b="0" i="0">
                <a:solidFill>
                  <a:srgbClr val="0D3060"/>
                </a:solidFill>
                <a:latin typeface="Arial"/>
              </a:rPr>
              <a:t>Office integration: native Excel and PowerPoint access via Desktop App (no copy-paste) -- Gemini binds to Google, not Microsoft</a:t>
            </a:r>
          </a:p>
          <a:p>
            <a:pPr>
              <a:lnSpc>
                <a:spcPct val="113000"/>
              </a:lnSpc>
              <a:spcBef>
                <a:spcPts val="700"/>
              </a:spcBef>
            </a:pPr>
            <a:r>
              <a:rPr sz="1100" b="1" i="0">
                <a:solidFill>
                  <a:srgbClr val="0070C0"/>
                </a:solidFill>
                <a:latin typeface="Arial"/>
              </a:rPr>
              <a:t>-&gt;  </a:t>
            </a:r>
            <a:r>
              <a:rPr sz="1100" b="0" i="0">
                <a:solidFill>
                  <a:srgbClr val="0D3060"/>
                </a:solidFill>
                <a:latin typeface="Arial"/>
              </a:rPr>
              <a:t>Instruction-following and long-context reliability -- critical when building on top of it</a:t>
            </a:r>
          </a:p>
          <a:p>
            <a:pPr>
              <a:lnSpc>
                <a:spcPct val="113000"/>
              </a:lnSpc>
              <a:spcBef>
                <a:spcPts val="700"/>
              </a:spcBef>
            </a:pPr>
            <a:r>
              <a:rPr sz="1100" b="1" i="0">
                <a:solidFill>
                  <a:srgbClr val="0070C0"/>
                </a:solidFill>
                <a:latin typeface="Arial"/>
              </a:rPr>
              <a:t>-&gt;  </a:t>
            </a:r>
            <a:r>
              <a:rPr sz="1100" b="0" i="0">
                <a:solidFill>
                  <a:srgbClr val="0D3060"/>
                </a:solidFill>
                <a:latin typeface="Arial"/>
              </a:rPr>
              <a:t>Safety architecture -- predictable, auditable refusals; essential for enterprise deployment</a:t>
            </a:r>
          </a:p>
          <a:p>
            <a:pPr>
              <a:lnSpc>
                <a:spcPct val="113000"/>
              </a:lnSpc>
              <a:spcBef>
                <a:spcPts val="700"/>
              </a:spcBef>
            </a:pPr>
            <a:r>
              <a:rPr sz="1100" b="1" i="0">
                <a:solidFill>
                  <a:srgbClr val="0070C0"/>
                </a:solidFill>
                <a:latin typeface="Arial"/>
              </a:rPr>
              <a:t>-&gt;  </a:t>
            </a:r>
            <a:r>
              <a:rPr sz="1100" b="0" i="0">
                <a:solidFill>
                  <a:srgbClr val="0D3060"/>
                </a:solidFill>
                <a:latin typeface="Arial"/>
              </a:rPr>
              <a:t>I would choose Claude for: any workflow involving office automation, agents, or building AI products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331720"/>
            <a:ext cx="457200" cy="5486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74519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 spc="220">
                <a:solidFill>
                  <a:srgbClr val="0070C0"/>
                </a:solidFill>
                <a:latin typeface="Arial"/>
              </a:rPr>
              <a:t>SECTION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06040"/>
            <a:ext cx="10972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600" b="0" i="0">
                <a:solidFill>
                  <a:srgbClr val="FFFFFF"/>
                </a:solidFill>
                <a:latin typeface="Georgia"/>
              </a:rPr>
              <a:t>The </a:t>
            </a:r>
            <a:r>
              <a:rPr sz="4600" b="0" i="0">
                <a:solidFill>
                  <a:srgbClr val="0070C0"/>
                </a:solidFill>
                <a:latin typeface="Georgia"/>
              </a:rPr>
              <a:t>Research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7" y="3977639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 i="0">
                <a:solidFill>
                  <a:srgbClr val="8A93A8"/>
                </a:solidFill>
                <a:latin typeface="Arial"/>
              </a:rPr>
              <a:t>Strategic analysis  .  experimentation in Claude  .  product-architecture principles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00800"/>
            <a:ext cx="896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 spc="80">
                <a:solidFill>
                  <a:srgbClr val="4A5270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 spc="220">
                <a:solidFill>
                  <a:srgbClr val="0070C0"/>
                </a:solidFill>
                <a:latin typeface="Arial"/>
              </a:rPr>
              <a:t>THE RESEARCH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300" b="0" i="0">
                <a:solidFill>
                  <a:srgbClr val="1A1C22"/>
                </a:solidFill>
                <a:latin typeface="Georgia"/>
              </a:rPr>
              <a:t>Project </a:t>
            </a:r>
            <a:r>
              <a:rPr sz="3300" b="0" i="0">
                <a:solidFill>
                  <a:srgbClr val="0070C0"/>
                </a:solidFill>
                <a:latin typeface="Georgia"/>
              </a:rPr>
              <a:t>timeline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572768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52586A"/>
                </a:solidFill>
                <a:latin typeface="Arial"/>
              </a:rPr>
              <a:t>From perspectives and state-of-the-art to building and positioning knowledge areas.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55664"/>
            <a:ext cx="11183112" cy="9525"/>
          </a:xfrm>
          <a:prstGeom prst="rect">
            <a:avLst/>
          </a:prstGeom>
          <a:solidFill>
            <a:srgbClr val="E0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0" i="0" spc="80">
                <a:solidFill>
                  <a:srgbClr val="8A93A8"/>
                </a:solidFill>
                <a:latin typeface="Arial"/>
              </a:rPr>
              <a:t>AI Implementation Strategy  .  Systems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510528"/>
            <a:ext cx="896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 spc="80">
                <a:solidFill>
                  <a:srgbClr val="8A93A8"/>
                </a:solidFill>
                <a:latin typeface="Arial"/>
              </a:rPr>
              <a:t>28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977639"/>
            <a:ext cx="10698480" cy="17780"/>
          </a:xfrm>
          <a:prstGeom prst="rect">
            <a:avLst/>
          </a:prstGeom>
          <a:solidFill>
            <a:srgbClr val="E4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8388" y="3922776"/>
            <a:ext cx="17780" cy="109728"/>
          </a:xfrm>
          <a:prstGeom prst="rect">
            <a:avLst/>
          </a:prstGeom>
          <a:solidFill>
            <a:srgbClr val="525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408736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 i="0" spc="50">
                <a:solidFill>
                  <a:srgbClr val="52586A"/>
                </a:solidFill>
                <a:latin typeface="Arial"/>
              </a:rPr>
              <a:t>Jan 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58084" y="3922776"/>
            <a:ext cx="17780" cy="109728"/>
          </a:xfrm>
          <a:prstGeom prst="rect">
            <a:avLst/>
          </a:prstGeom>
          <a:solidFill>
            <a:srgbClr val="525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05456" y="408736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 i="0" spc="50">
                <a:solidFill>
                  <a:srgbClr val="52586A"/>
                </a:solidFill>
                <a:latin typeface="Arial"/>
              </a:rPr>
              <a:t>Feb 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97780" y="3922776"/>
            <a:ext cx="17780" cy="109728"/>
          </a:xfrm>
          <a:prstGeom prst="rect">
            <a:avLst/>
          </a:prstGeom>
          <a:solidFill>
            <a:srgbClr val="525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5152" y="408736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 i="0" spc="50">
                <a:solidFill>
                  <a:srgbClr val="52586A"/>
                </a:solidFill>
                <a:latin typeface="Arial"/>
              </a:rPr>
              <a:t>Mar 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37476" y="3922776"/>
            <a:ext cx="17780" cy="109728"/>
          </a:xfrm>
          <a:prstGeom prst="rect">
            <a:avLst/>
          </a:prstGeom>
          <a:solidFill>
            <a:srgbClr val="525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84848" y="408736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 i="0" spc="50">
                <a:solidFill>
                  <a:srgbClr val="52586A"/>
                </a:solidFill>
                <a:latin typeface="Arial"/>
              </a:rPr>
              <a:t>Apr 26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77172" y="3922776"/>
            <a:ext cx="17780" cy="109728"/>
          </a:xfrm>
          <a:prstGeom prst="rect">
            <a:avLst/>
          </a:prstGeom>
          <a:solidFill>
            <a:srgbClr val="525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24544" y="408736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 i="0" spc="50">
                <a:solidFill>
                  <a:srgbClr val="52586A"/>
                </a:solidFill>
                <a:latin typeface="Arial"/>
              </a:rPr>
              <a:t>May 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516867" y="3922776"/>
            <a:ext cx="17780" cy="109728"/>
          </a:xfrm>
          <a:prstGeom prst="rect">
            <a:avLst/>
          </a:prstGeom>
          <a:solidFill>
            <a:srgbClr val="525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064240" y="408736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 i="0" spc="50">
                <a:solidFill>
                  <a:srgbClr val="52586A"/>
                </a:solidFill>
                <a:latin typeface="Arial"/>
              </a:rPr>
              <a:t>Jun 26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063240"/>
            <a:ext cx="4279392" cy="566928"/>
          </a:xfrm>
          <a:prstGeom prst="roundRect">
            <a:avLst>
              <a:gd name="adj" fmla="val 25000"/>
            </a:avLst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3063240"/>
            <a:ext cx="400507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Phase 1  .  Perspectives, state of the art, tool exploration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42048" y="4325112"/>
            <a:ext cx="4279392" cy="566928"/>
          </a:xfrm>
          <a:prstGeom prst="roundRect">
            <a:avLst>
              <a:gd name="adj" fmla="val 25000"/>
            </a:avLst>
          </a:prstGeom>
          <a:solidFill>
            <a:srgbClr val="00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79208" y="4325112"/>
            <a:ext cx="400507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Phase 2  .  1. Building   2. Positioning knowledge areas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512296" y="2788920"/>
            <a:ext cx="20320" cy="118872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35440" y="251460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 i="0" spc="150">
                <a:solidFill>
                  <a:srgbClr val="8B1A1A"/>
                </a:solidFill>
                <a:latin typeface="Arial"/>
              </a:rPr>
              <a:t>WE ARE HERE  v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212080"/>
            <a:ext cx="26700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5212080"/>
            <a:ext cx="2670048" cy="5486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5394960"/>
            <a:ext cx="2359152" cy="7406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1" i="0" spc="140">
                <a:solidFill>
                  <a:srgbClr val="0070C0"/>
                </a:solidFill>
                <a:latin typeface="Arial"/>
              </a:rPr>
              <a:t>JAN-MAR</a:t>
            </a:r>
          </a:p>
          <a:p>
            <a:pPr>
              <a:lnSpc>
                <a:spcPct val="118000"/>
              </a:lnSpc>
              <a:spcBef>
                <a:spcPts val="400"/>
              </a:spcBef>
            </a:pPr>
            <a:r>
              <a:rPr sz="1100" b="0" i="0">
                <a:solidFill>
                  <a:srgbClr val="52586A"/>
                </a:solidFill>
                <a:latin typeface="Arial"/>
              </a:rPr>
              <a:t>Strategic analysis &amp; preliminary views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337560" y="5212080"/>
            <a:ext cx="26700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337560" y="5212080"/>
            <a:ext cx="2670048" cy="5486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02152" y="5394960"/>
            <a:ext cx="2359152" cy="7406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1" i="0" spc="140">
                <a:solidFill>
                  <a:srgbClr val="002060"/>
                </a:solidFill>
                <a:latin typeface="Arial"/>
              </a:rPr>
              <a:t>MAR</a:t>
            </a:r>
          </a:p>
          <a:p>
            <a:pPr>
              <a:lnSpc>
                <a:spcPct val="118000"/>
              </a:lnSpc>
              <a:spcBef>
                <a:spcPts val="400"/>
              </a:spcBef>
            </a:pPr>
            <a:r>
              <a:rPr sz="1100" b="0" i="0">
                <a:solidFill>
                  <a:srgbClr val="52586A"/>
                </a:solidFill>
                <a:latin typeface="Arial"/>
              </a:rPr>
              <a:t>State of the art + tool exploration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5212080"/>
            <a:ext cx="26700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72200" y="5212080"/>
            <a:ext cx="2670048" cy="54864"/>
          </a:xfrm>
          <a:prstGeom prst="rect">
            <a:avLst/>
          </a:prstGeom>
          <a:solidFill>
            <a:srgbClr val="00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36792" y="5394960"/>
            <a:ext cx="2359152" cy="7406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1" i="0" spc="140">
                <a:solidFill>
                  <a:srgbClr val="006B6B"/>
                </a:solidFill>
                <a:latin typeface="Arial"/>
              </a:rPr>
              <a:t>APR-JUN</a:t>
            </a:r>
          </a:p>
          <a:p>
            <a:pPr>
              <a:lnSpc>
                <a:spcPct val="118000"/>
              </a:lnSpc>
              <a:spcBef>
                <a:spcPts val="400"/>
              </a:spcBef>
            </a:pPr>
            <a:r>
              <a:rPr sz="1100" b="0" i="0">
                <a:solidFill>
                  <a:srgbClr val="52586A"/>
                </a:solidFill>
                <a:latin typeface="Arial"/>
              </a:rPr>
              <a:t>Two apps shipped + playbook &amp; report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006840" y="5212080"/>
            <a:ext cx="26700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006840" y="5212080"/>
            <a:ext cx="2670048" cy="54864"/>
          </a:xfrm>
          <a:prstGeom prst="rect">
            <a:avLst/>
          </a:prstGeom>
          <a:solidFill>
            <a:srgbClr val="1A5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71432" y="5394960"/>
            <a:ext cx="2359152" cy="7406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1" i="0" spc="140">
                <a:solidFill>
                  <a:srgbClr val="1A5E38"/>
                </a:solidFill>
                <a:latin typeface="Arial"/>
              </a:rPr>
              <a:t>JUN</a:t>
            </a:r>
          </a:p>
          <a:p>
            <a:pPr>
              <a:lnSpc>
                <a:spcPct val="118000"/>
              </a:lnSpc>
              <a:spcBef>
                <a:spcPts val="400"/>
              </a:spcBef>
            </a:pPr>
            <a:r>
              <a:rPr sz="1100" b="0" i="0">
                <a:solidFill>
                  <a:srgbClr val="52586A"/>
                </a:solidFill>
                <a:latin typeface="Arial"/>
              </a:rPr>
              <a:t>Knowledge areas positioned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