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WORKSTREAM 01  .  AI TRANSFORMATION OF THE SE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100" b="0" i="0">
                <a:solidFill>
                  <a:srgbClr val="1A1C22"/>
                </a:solidFill>
                <a:latin typeface="Georgia"/>
              </a:rPr>
              <a:t>Implementing AI in </a:t>
            </a:r>
            <a:r>
              <a:rPr sz="3100" b="0" i="0">
                <a:solidFill>
                  <a:srgbClr val="0070C0"/>
                </a:solidFill>
                <a:latin typeface="Georgia"/>
              </a:rPr>
              <a:t>systems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37376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60">
                <a:solidFill>
                  <a:srgbClr val="8A93A8"/>
                </a:solidFill>
                <a:latin typeface="Arial"/>
              </a:rPr>
              <a:t>AI Transformation of MBSE  .  Approach &amp; vision  .  business-ops vision  .  SE depth  .  AI fluency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30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A93A8"/>
                </a:solidFill>
                <a:latin typeface="Arial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11183112" cy="960120"/>
          </a:xfrm>
          <a:prstGeom prst="roundRect">
            <a:avLst>
              <a:gd name="adj" fmla="val 5000"/>
            </a:avLst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82296" cy="9601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27632"/>
            <a:ext cx="10515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650" b="1" i="0">
                <a:solidFill>
                  <a:srgbClr val="1A1C22"/>
                </a:solidFill>
                <a:latin typeface="Georgia"/>
              </a:rPr>
              <a:t>We don't digitize tools -- we change how engineering work gets done. </a:t>
            </a:r>
            <a:r>
              <a:rPr sz="1650" b="0" i="0">
                <a:solidFill>
                  <a:srgbClr val="52586A"/>
                </a:solidFill>
                <a:latin typeface="Georgia"/>
              </a:rPr>
              <a:t>Start from how the practice really operates today, then implement AI where it is feasible and where it pays.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2852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spc="100">
                <a:solidFill>
                  <a:srgbClr val="52586A"/>
                </a:solidFill>
                <a:latin typeface="Arial"/>
              </a:rPr>
              <a:t>START WITH THE WORK, NOT THE TECHNOLOGY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27248"/>
            <a:ext cx="11183112" cy="585216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127248"/>
            <a:ext cx="64008" cy="585216"/>
          </a:xfrm>
          <a:prstGeom prst="rect">
            <a:avLst/>
          </a:prstGeom>
          <a:solidFill>
            <a:srgbClr val="7B4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27248"/>
            <a:ext cx="106070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5A3800"/>
                </a:solidFill>
                <a:latin typeface="Arial"/>
              </a:rPr>
              <a:t>Phase 0 -- light due diligence.  </a:t>
            </a:r>
            <a:r>
              <a:rPr sz="1150" b="0" i="0">
                <a:solidFill>
                  <a:srgbClr val="5A3800"/>
                </a:solidFill>
                <a:latin typeface="Arial"/>
              </a:rPr>
              <a:t>Map the real SE processes, artifacts and pain points -- without diving into deep technical issues -- so we propose against reality.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391363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spc="100">
                <a:solidFill>
                  <a:srgbClr val="52586A"/>
                </a:solidFill>
                <a:latin typeface="Arial"/>
              </a:rPr>
              <a:t>THREE MODES OF IMPLEMENTATION  (FROM THE WORKSHOP)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3538728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06240"/>
            <a:ext cx="3538728" cy="640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3172968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30">
                <a:solidFill>
                  <a:srgbClr val="0070C0"/>
                </a:solidFill>
                <a:latin typeface="Arial"/>
              </a:rPr>
              <a:t>AUGMENT</a:t>
            </a:r>
          </a:p>
          <a:p>
            <a:pPr>
              <a:spcBef>
                <a:spcPts val="400"/>
              </a:spcBef>
            </a:pPr>
            <a:r>
              <a:rPr sz="1400" b="1" i="0">
                <a:solidFill>
                  <a:srgbClr val="1A1C22"/>
                </a:solidFill>
                <a:latin typeface="Georgia"/>
              </a:rPr>
              <a:t>Augment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AI inside the daily tools -- documents, models, reviews. The gain is judgment and quality, not only speed.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4206240"/>
            <a:ext cx="3538728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4206240"/>
            <a:ext cx="3538728" cy="6400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4389120"/>
            <a:ext cx="3172968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30">
                <a:solidFill>
                  <a:srgbClr val="002060"/>
                </a:solidFill>
                <a:latin typeface="Arial"/>
              </a:rPr>
              <a:t>AUTOMATE</a:t>
            </a:r>
          </a:p>
          <a:p>
            <a:pPr>
              <a:spcBef>
                <a:spcPts val="400"/>
              </a:spcBef>
            </a:pPr>
            <a:r>
              <a:rPr sz="1400" b="1" i="0">
                <a:solidFill>
                  <a:srgbClr val="1A1C22"/>
                </a:solidFill>
                <a:latin typeface="Georgia"/>
              </a:rPr>
              <a:t>Automate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Agents that research, monitor and prepare work -- always under human review before anything ships.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9016" y="4206240"/>
            <a:ext cx="3538728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9016" y="4206240"/>
            <a:ext cx="3538728" cy="64008"/>
          </a:xfrm>
          <a:prstGeom prst="rect">
            <a:avLst/>
          </a:prstGeom>
          <a:solidFill>
            <a:srgbClr val="0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6" y="4389120"/>
            <a:ext cx="3172968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30">
                <a:solidFill>
                  <a:srgbClr val="006B6B"/>
                </a:solidFill>
                <a:latin typeface="Arial"/>
              </a:rPr>
              <a:t>BUILD</a:t>
            </a:r>
          </a:p>
          <a:p>
            <a:pPr>
              <a:spcBef>
                <a:spcPts val="400"/>
              </a:spcBef>
            </a:pPr>
            <a:r>
              <a:rPr sz="1400" b="1" i="0">
                <a:solidFill>
                  <a:srgbClr val="1A1C22"/>
                </a:solidFill>
                <a:latin typeface="Georgia"/>
              </a:rPr>
              <a:t>Build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Bespoke apps and RAG that did not exist before -- built by domain experts, not a dev team.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870448"/>
            <a:ext cx="64008" cy="512064"/>
          </a:xfrm>
          <a:prstGeom prst="rect">
            <a:avLst/>
          </a:prstGeom>
          <a:solidFill>
            <a:srgbClr val="1A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70448"/>
            <a:ext cx="106070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33D25"/>
                </a:solidFill>
                <a:latin typeface="Arial"/>
              </a:rPr>
              <a:t>Then sequence.  </a:t>
            </a:r>
            <a:r>
              <a:rPr sz="1150" b="0" i="0">
                <a:solidFill>
                  <a:srgbClr val="133D25"/>
                </a:solidFill>
                <a:latin typeface="Arial"/>
              </a:rPr>
              <a:t>Every candidate scored on a feasibility x impact matrix -- so investment follows where AI is both possible and valuable.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WORKSTREAM 02  .  AI TRANSFORMATION OF THE SE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100" b="0" i="0">
                <a:solidFill>
                  <a:srgbClr val="1A1C22"/>
                </a:solidFill>
                <a:latin typeface="Georgia"/>
              </a:rPr>
              <a:t>Building products that </a:t>
            </a:r>
            <a:r>
              <a:rPr sz="3100" b="0" i="0">
                <a:solidFill>
                  <a:srgbClr val="0070C0"/>
                </a:solidFill>
                <a:latin typeface="Georgia"/>
              </a:rPr>
              <a:t>read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37376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60">
                <a:solidFill>
                  <a:srgbClr val="8A93A8"/>
                </a:solidFill>
                <a:latin typeface="Arial"/>
              </a:rPr>
              <a:t>AI Transformation of MBSE  .  Approach &amp; vision  .  business-ops vision  .  SE depth  .  AI fluency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30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A93A8"/>
                </a:solidFill>
                <a:latin typeface="Arial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11183112" cy="960120"/>
          </a:xfrm>
          <a:prstGeom prst="roundRect">
            <a:avLst>
              <a:gd name="adj" fmla="val 5000"/>
            </a:avLst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82296" cy="9601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27632"/>
            <a:ext cx="10515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650" b="1" i="0">
                <a:solidFill>
                  <a:srgbClr val="1A1C22"/>
                </a:solidFill>
                <a:latin typeface="Georgia"/>
              </a:rPr>
              <a:t>The bottleneck in systems engineering is reading. </a:t>
            </a:r>
            <a:r>
              <a:rPr sz="1650" b="0" i="0">
                <a:solidFill>
                  <a:srgbClr val="52586A"/>
                </a:solidFill>
                <a:latin typeface="Georgia"/>
              </a:rPr>
              <a:t>We build products that ingest and reason over large bodies of documentation -- standards, specs, models -- and turn them into answers you can trust.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290779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spc="100">
                <a:solidFill>
                  <a:srgbClr val="52586A"/>
                </a:solidFill>
                <a:latin typeface="Arial"/>
              </a:rPr>
              <a:t>WHAT WE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00400"/>
            <a:ext cx="353872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3538728" cy="640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383280"/>
            <a:ext cx="3172968" cy="1837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30">
                <a:solidFill>
                  <a:srgbClr val="0070C0"/>
                </a:solidFill>
                <a:latin typeface="Arial"/>
              </a:rPr>
              <a:t>FIRST PROOF CASE</a:t>
            </a:r>
          </a:p>
          <a:p>
            <a:pPr>
              <a:spcBef>
                <a:spcPts val="400"/>
              </a:spcBef>
            </a:pPr>
            <a:r>
              <a:rPr sz="1400" b="1" i="0">
                <a:solidFill>
                  <a:srgbClr val="1A1C22"/>
                </a:solidFill>
                <a:latin typeface="Georgia"/>
              </a:rPr>
              <a:t>Arcadia vs SysML v2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Embed both standards and run a rigorous, fully-sourced comparison -- the deliverable is also the demonstration of the capability.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200400"/>
            <a:ext cx="353872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3200400"/>
            <a:ext cx="3538728" cy="6400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3383280"/>
            <a:ext cx="3172968" cy="1837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30">
                <a:solidFill>
                  <a:srgbClr val="002060"/>
                </a:solidFill>
                <a:latin typeface="Arial"/>
              </a:rPr>
              <a:t>IT GENERALIZES</a:t>
            </a:r>
          </a:p>
          <a:p>
            <a:pPr>
              <a:spcBef>
                <a:spcPts val="400"/>
              </a:spcBef>
            </a:pPr>
            <a:r>
              <a:rPr sz="1400" b="1" i="0">
                <a:solidFill>
                  <a:srgbClr val="1A1C22"/>
                </a:solidFill>
                <a:latin typeface="Georgia"/>
              </a:rPr>
              <a:t>One engine, many corpora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Requirements, regulations, legacy documentation, model exports -- the same product analyzes any large body of 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3200400"/>
            <a:ext cx="353872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3200400"/>
            <a:ext cx="3538728" cy="64008"/>
          </a:xfrm>
          <a:prstGeom prst="rect">
            <a:avLst/>
          </a:prstGeom>
          <a:solidFill>
            <a:srgbClr val="0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3383280"/>
            <a:ext cx="3172968" cy="1837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30">
                <a:solidFill>
                  <a:srgbClr val="006B6B"/>
                </a:solidFill>
                <a:latin typeface="Arial"/>
              </a:rPr>
              <a:t>HOW IT WORKS</a:t>
            </a:r>
          </a:p>
          <a:p>
            <a:pPr>
              <a:spcBef>
                <a:spcPts val="400"/>
              </a:spcBef>
            </a:pPr>
            <a:r>
              <a:rPr sz="1400" b="1" i="0">
                <a:solidFill>
                  <a:srgbClr val="1A1C22"/>
                </a:solidFill>
                <a:latin typeface="Georgia"/>
              </a:rPr>
              <a:t>Retrieval + dual-model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RAG over the corpus, with independent cross-model evaluation -- traceable, sourced, and resistant to single-model bias.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650992"/>
            <a:ext cx="11183112" cy="566928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650992"/>
            <a:ext cx="64008" cy="566928"/>
          </a:xfrm>
          <a:prstGeom prst="rect">
            <a:avLst/>
          </a:prstGeom>
          <a:solidFill>
            <a:srgbClr val="1A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50992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133D25"/>
                </a:solidFill>
                <a:latin typeface="Arial"/>
              </a:rPr>
              <a:t>The outcome.  </a:t>
            </a:r>
            <a:r>
              <a:rPr sz="1150" b="0" i="0">
                <a:solidFill>
                  <a:srgbClr val="133D25"/>
                </a:solidFill>
                <a:latin typeface="Arial"/>
              </a:rPr>
              <a:t>A reusable product, not a one-off study -- the comparison is the first of many analyses it will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220">
                <a:solidFill>
                  <a:srgbClr val="0070C0"/>
                </a:solidFill>
                <a:latin typeface="Arial"/>
              </a:rPr>
              <a:t>WORKSTREAM 03  .  AI TRANSFORMATION OF THE SE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100" b="0" i="0">
                <a:solidFill>
                  <a:srgbClr val="1A1C22"/>
                </a:solidFill>
                <a:latin typeface="Georgia"/>
              </a:rPr>
              <a:t>Is the capability </a:t>
            </a:r>
            <a:r>
              <a:rPr sz="3100" b="0" i="0">
                <a:solidFill>
                  <a:srgbClr val="0070C0"/>
                </a:solidFill>
                <a:latin typeface="Georgia"/>
              </a:rPr>
              <a:t>worth building?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37376"/>
            <a:ext cx="11183112" cy="9525"/>
          </a:xfrm>
          <a:prstGeom prst="rect">
            <a:avLst/>
          </a:prstGeom>
          <a:solidFill>
            <a:srgbClr val="E0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spc="60">
                <a:solidFill>
                  <a:srgbClr val="8A93A8"/>
                </a:solidFill>
                <a:latin typeface="Arial"/>
              </a:rPr>
              <a:t>AI Transformation of MBSE  .  Approach &amp; vision  .  business-ops vision  .  SE depth  .  AI fluency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30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A93A8"/>
                </a:solidFill>
                <a:latin typeface="Arial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11183112" cy="960120"/>
          </a:xfrm>
          <a:prstGeom prst="roundRect">
            <a:avLst>
              <a:gd name="adj" fmla="val 5000"/>
            </a:avLst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82296" cy="9601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27632"/>
            <a:ext cx="10515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650" b="1" i="0">
                <a:solidFill>
                  <a:srgbClr val="1A1C22"/>
                </a:solidFill>
                <a:latin typeface="Georgia"/>
              </a:rPr>
              <a:t>The question is not what a capability costs. </a:t>
            </a:r>
            <a:r>
              <a:rPr sz="1650" b="0" i="0">
                <a:solidFill>
                  <a:srgbClr val="52586A"/>
                </a:solidFill>
                <a:latin typeface="Georgia"/>
              </a:rPr>
              <a:t>It is whether it is the right capability to build -- against everything else we could build with the same effort.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290779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spc="100">
                <a:solidFill>
                  <a:srgbClr val="52586A"/>
                </a:solidFill>
                <a:latin typeface="Arial"/>
              </a:rPr>
              <a:t>THREE LENSES ON THE INVESTMENT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00400"/>
            <a:ext cx="353872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3538728" cy="64008"/>
          </a:xfrm>
          <a:prstGeom prst="rect">
            <a:avLst/>
          </a:prstGeom>
          <a:solidFill>
            <a:srgbClr val="525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383280"/>
            <a:ext cx="3172968" cy="1837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30">
                <a:solidFill>
                  <a:srgbClr val="52586A"/>
                </a:solidFill>
                <a:latin typeface="Arial"/>
              </a:rPr>
              <a:t>LENS 1</a:t>
            </a:r>
          </a:p>
          <a:p>
            <a:pPr>
              <a:spcBef>
                <a:spcPts val="400"/>
              </a:spcBef>
            </a:pPr>
            <a:r>
              <a:rPr sz="1400" b="1" i="0">
                <a:solidFill>
                  <a:srgbClr val="1A1C22"/>
                </a:solidFill>
                <a:latin typeface="Georgia"/>
              </a:rPr>
              <a:t>Direct cost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Build plus run. Real, but usually the smallest number in the decision -- and the one everyone over-weights.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200400"/>
            <a:ext cx="353872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3200400"/>
            <a:ext cx="3538728" cy="64008"/>
          </a:xfrm>
          <a:prstGeom prst="rect">
            <a:avLst/>
          </a:prstGeom>
          <a:solidFill>
            <a:srgbClr val="00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3383280"/>
            <a:ext cx="3172968" cy="1837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30">
                <a:solidFill>
                  <a:srgbClr val="006B6B"/>
                </a:solidFill>
                <a:latin typeface="Arial"/>
              </a:rPr>
              <a:t>LENS 2</a:t>
            </a:r>
          </a:p>
          <a:p>
            <a:pPr>
              <a:spcBef>
                <a:spcPts val="400"/>
              </a:spcBef>
            </a:pPr>
            <a:r>
              <a:rPr sz="1400" b="1" i="0">
                <a:solidFill>
                  <a:srgbClr val="1A1C22"/>
                </a:solidFill>
                <a:latin typeface="Georgia"/>
              </a:rPr>
              <a:t>Strategic direction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100" b="0" i="0">
                <a:solidFill>
                  <a:srgbClr val="52586A"/>
                </a:solidFill>
                <a:latin typeface="Arial"/>
              </a:rPr>
              <a:t>Does it compound? Does it sit where systems engineering is heading -- toward open standards, APIs and integration?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3200400"/>
            <a:ext cx="3538728" cy="2148840"/>
          </a:xfrm>
          <a:prstGeom prst="roundRect">
            <a:avLst>
              <a:gd name="adj" fmla="val 5000"/>
            </a:avLst>
          </a:prstGeom>
          <a:solidFill>
            <a:srgbClr val="E6EEF7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3200400"/>
            <a:ext cx="3538728" cy="6400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3383280"/>
            <a:ext cx="3172968" cy="1837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spc="130">
                <a:solidFill>
                  <a:srgbClr val="0070C0"/>
                </a:solidFill>
                <a:latin typeface="Arial"/>
              </a:rPr>
              <a:t>LENS 3  .  THE DECISIVE ONE</a:t>
            </a:r>
          </a:p>
          <a:p>
            <a:pPr>
              <a:spcBef>
                <a:spcPts val="400"/>
              </a:spcBef>
            </a:pPr>
            <a:r>
              <a:rPr sz="1400" b="1" i="0">
                <a:solidFill>
                  <a:srgbClr val="1A1C22"/>
                </a:solidFill>
                <a:latin typeface="Georgia"/>
              </a:rPr>
              <a:t>Opportunity cost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100" b="0" i="0">
                <a:solidFill>
                  <a:srgbClr val="0D3060"/>
                </a:solidFill>
                <a:latin typeface="Arial"/>
              </a:rPr>
              <a:t>What we give up by building this instead of the next-best capability. This is where the real choice lives.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650992"/>
            <a:ext cx="11183112" cy="566928"/>
          </a:xfrm>
          <a:prstGeom prst="roundRect">
            <a:avLst>
              <a:gd name="adj" fmla="val 10000"/>
            </a:avLst>
          </a:prstGeom>
          <a:solidFill>
            <a:srgbClr val="EEF0F8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650992"/>
            <a:ext cx="64008" cy="56692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50992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002060"/>
                </a:solidFill>
                <a:latin typeface="Arial"/>
              </a:rPr>
              <a:t>The output.  </a:t>
            </a:r>
            <a:r>
              <a:rPr sz="1150" b="0" i="0">
                <a:solidFill>
                  <a:srgbClr val="002060"/>
                </a:solidFill>
                <a:latin typeface="Arial"/>
              </a:rPr>
              <a:t>A ranked capability portfolio with a go / no-go per bet -- the SysML v2 ecosystem play is one strong candidate among several.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